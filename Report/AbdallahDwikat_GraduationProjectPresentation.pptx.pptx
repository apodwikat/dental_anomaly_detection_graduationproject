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etrona" charset="1" panose="02000503020000020003"/>
      <p:regular r:id="rId25"/>
    </p:embeddedFont>
    <p:embeddedFont>
      <p:font typeface="Inter" charset="1" panose="020B050203000000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https://www.canva.com/link?target=https%3A%2F%2Fmedium.com%2F%40clemkoa%2Fdeep-learning-on-dental-x-rays-part-2-fbee8382ffc3&amp;design=DAGjVZyGin8&amp;utl=h651edd731d&amp;accessRole=viewer&amp;linkSource=document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1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itdiagram.com/apodwikat/dental_anomaly_detection_graduationproject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3390/s22197370" TargetMode="External" Type="http://schemas.openxmlformats.org/officeDocument/2006/relationships/hyperlink"/><Relationship Id="rId3" Target="https://medium.com/@clemkoa/deep-learning-on-dental-x-rays-part-2-fbee8382ffc3" TargetMode="External" Type="http://schemas.openxmlformats.org/officeDocument/2006/relationships/hyperlink"/><Relationship Id="rId4" Target="https://doi.org/10.1007/978-981-99-7962-2_39" TargetMode="External" Type="http://schemas.openxmlformats.org/officeDocument/2006/relationships/hyperlink"/><Relationship Id="rId5" Target="https://github.com/ultralytics/ultralytics" TargetMode="External" Type="http://schemas.openxmlformats.org/officeDocument/2006/relationships/hyperlink"/><Relationship Id="rId6" Target="https://github.com/apodwikat/Dental_Anomaly_Detection_GraduationProject" TargetMode="External" Type="http://schemas.openxmlformats.org/officeDocument/2006/relationships/hyperlink"/><Relationship Id="rId7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45475" y="7359849"/>
            <a:ext cx="463154" cy="463154"/>
            <a:chOff x="0" y="0"/>
            <a:chExt cx="617538" cy="617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601" cy="617601"/>
            </a:xfrm>
            <a:custGeom>
              <a:avLst/>
              <a:gdLst/>
              <a:ahLst/>
              <a:cxnLst/>
              <a:rect r="r" b="b" t="t" l="l"/>
              <a:pathLst>
                <a:path h="617601" w="617601">
                  <a:moveTo>
                    <a:pt x="0" y="308737"/>
                  </a:moveTo>
                  <a:cubicBezTo>
                    <a:pt x="0" y="138303"/>
                    <a:pt x="138303" y="0"/>
                    <a:pt x="308737" y="0"/>
                  </a:cubicBezTo>
                  <a:cubicBezTo>
                    <a:pt x="310642" y="0"/>
                    <a:pt x="312547" y="889"/>
                    <a:pt x="313690" y="2413"/>
                  </a:cubicBezTo>
                  <a:lnTo>
                    <a:pt x="308737" y="6350"/>
                  </a:lnTo>
                  <a:lnTo>
                    <a:pt x="308737" y="0"/>
                  </a:lnTo>
                  <a:lnTo>
                    <a:pt x="308737" y="6350"/>
                  </a:lnTo>
                  <a:lnTo>
                    <a:pt x="308737" y="0"/>
                  </a:lnTo>
                  <a:cubicBezTo>
                    <a:pt x="479298" y="0"/>
                    <a:pt x="617601" y="138303"/>
                    <a:pt x="617601" y="308737"/>
                  </a:cubicBezTo>
                  <a:cubicBezTo>
                    <a:pt x="617601" y="311150"/>
                    <a:pt x="616204" y="313309"/>
                    <a:pt x="614045" y="314452"/>
                  </a:cubicBezTo>
                  <a:lnTo>
                    <a:pt x="611251" y="308737"/>
                  </a:lnTo>
                  <a:lnTo>
                    <a:pt x="617601" y="308737"/>
                  </a:lnTo>
                  <a:cubicBezTo>
                    <a:pt x="617601" y="479298"/>
                    <a:pt x="479298" y="617474"/>
                    <a:pt x="308864" y="617474"/>
                  </a:cubicBezTo>
                  <a:lnTo>
                    <a:pt x="308864" y="611124"/>
                  </a:lnTo>
                  <a:lnTo>
                    <a:pt x="308864" y="604774"/>
                  </a:lnTo>
                  <a:lnTo>
                    <a:pt x="308864" y="611124"/>
                  </a:lnTo>
                  <a:lnTo>
                    <a:pt x="308864" y="617474"/>
                  </a:lnTo>
                  <a:cubicBezTo>
                    <a:pt x="138303" y="617601"/>
                    <a:pt x="0" y="479298"/>
                    <a:pt x="0" y="308737"/>
                  </a:cubicBezTo>
                  <a:lnTo>
                    <a:pt x="6350" y="308737"/>
                  </a:lnTo>
                  <a:lnTo>
                    <a:pt x="0" y="308737"/>
                  </a:lnTo>
                  <a:moveTo>
                    <a:pt x="12700" y="308737"/>
                  </a:moveTo>
                  <a:lnTo>
                    <a:pt x="6350" y="308737"/>
                  </a:lnTo>
                  <a:lnTo>
                    <a:pt x="12700" y="308737"/>
                  </a:lnTo>
                  <a:cubicBezTo>
                    <a:pt x="12700" y="472313"/>
                    <a:pt x="145288" y="604901"/>
                    <a:pt x="308737" y="604901"/>
                  </a:cubicBezTo>
                  <a:cubicBezTo>
                    <a:pt x="312293" y="604901"/>
                    <a:pt x="315087" y="607695"/>
                    <a:pt x="315087" y="611251"/>
                  </a:cubicBezTo>
                  <a:cubicBezTo>
                    <a:pt x="315087" y="614807"/>
                    <a:pt x="312293" y="617601"/>
                    <a:pt x="308737" y="617601"/>
                  </a:cubicBezTo>
                  <a:cubicBezTo>
                    <a:pt x="305181" y="617601"/>
                    <a:pt x="302387" y="614807"/>
                    <a:pt x="302387" y="611251"/>
                  </a:cubicBezTo>
                  <a:cubicBezTo>
                    <a:pt x="302387" y="607695"/>
                    <a:pt x="305181" y="604901"/>
                    <a:pt x="308737" y="604901"/>
                  </a:cubicBezTo>
                  <a:cubicBezTo>
                    <a:pt x="472313" y="604901"/>
                    <a:pt x="604774" y="472313"/>
                    <a:pt x="604774" y="308864"/>
                  </a:cubicBezTo>
                  <a:cubicBezTo>
                    <a:pt x="604774" y="306451"/>
                    <a:pt x="606171" y="304292"/>
                    <a:pt x="608330" y="303149"/>
                  </a:cubicBezTo>
                  <a:lnTo>
                    <a:pt x="611124" y="308864"/>
                  </a:lnTo>
                  <a:lnTo>
                    <a:pt x="604774" y="308864"/>
                  </a:lnTo>
                  <a:cubicBezTo>
                    <a:pt x="604901" y="145288"/>
                    <a:pt x="472313" y="12700"/>
                    <a:pt x="308737" y="12700"/>
                  </a:cubicBezTo>
                  <a:cubicBezTo>
                    <a:pt x="306832" y="12700"/>
                    <a:pt x="304927" y="11811"/>
                    <a:pt x="303784" y="10287"/>
                  </a:cubicBezTo>
                  <a:lnTo>
                    <a:pt x="308737" y="6350"/>
                  </a:lnTo>
                  <a:lnTo>
                    <a:pt x="308737" y="12700"/>
                  </a:lnTo>
                  <a:cubicBezTo>
                    <a:pt x="145288" y="12700"/>
                    <a:pt x="12700" y="145288"/>
                    <a:pt x="12700" y="30873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7185" y="4023981"/>
            <a:ext cx="7548691" cy="5021381"/>
          </a:xfrm>
          <a:custGeom>
            <a:avLst/>
            <a:gdLst/>
            <a:ahLst/>
            <a:cxnLst/>
            <a:rect r="r" b="b" t="t" l="l"/>
            <a:pathLst>
              <a:path h="5021381" w="7548691">
                <a:moveTo>
                  <a:pt x="0" y="0"/>
                </a:moveTo>
                <a:lnTo>
                  <a:pt x="7548691" y="0"/>
                </a:lnTo>
                <a:lnTo>
                  <a:pt x="7548691" y="5021381"/>
                </a:lnTo>
                <a:lnTo>
                  <a:pt x="0" y="5021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88" t="-50823" r="-9440" b="-3517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9656" y="1263262"/>
            <a:ext cx="17288688" cy="185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7"/>
              </a:lnSpc>
              <a:spcBef>
                <a:spcPct val="0"/>
              </a:spcBef>
            </a:pPr>
            <a:r>
              <a:rPr lang="en-US" sz="5795">
                <a:solidFill>
                  <a:srgbClr val="FF3131"/>
                </a:solidFill>
                <a:latin typeface="Petrona"/>
                <a:ea typeface="Petrona"/>
                <a:cs typeface="Petrona"/>
                <a:sym typeface="Petrona"/>
              </a:rPr>
              <a:t>Dental Anomaly Detection thr</a:t>
            </a:r>
            <a:r>
              <a:rPr lang="en-US" sz="5795">
                <a:solidFill>
                  <a:srgbClr val="FF3131"/>
                </a:solidFill>
                <a:latin typeface="Petrona"/>
                <a:ea typeface="Petrona"/>
                <a:cs typeface="Petrona"/>
                <a:sym typeface="Petrona"/>
              </a:rPr>
              <a:t>ough Biomedical X-rays: Deep Learning Approach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11506" y="4023981"/>
            <a:ext cx="10776494" cy="6264446"/>
            <a:chOff x="0" y="0"/>
            <a:chExt cx="14368659" cy="835259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517061" y="-38100"/>
              <a:ext cx="11334538" cy="853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2"/>
                </a:lnSpc>
                <a:spcBef>
                  <a:spcPct val="0"/>
                </a:spcBef>
              </a:pPr>
              <a:r>
                <a:rPr lang="en-US" sz="403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Department of Computer Engineering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17061" y="1148282"/>
              <a:ext cx="11334538" cy="171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2"/>
                </a:lnSpc>
                <a:spcBef>
                  <a:spcPct val="0"/>
                </a:spcBef>
              </a:pPr>
              <a:r>
                <a:rPr lang="en-US" sz="403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Sub</a:t>
              </a:r>
              <a:r>
                <a:rPr lang="en-US" sz="403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mitted By</a:t>
              </a:r>
            </a:p>
            <a:p>
              <a:pPr algn="ctr">
                <a:lnSpc>
                  <a:spcPts val="5082"/>
                </a:lnSpc>
                <a:spcBef>
                  <a:spcPct val="0"/>
                </a:spcBef>
              </a:pPr>
              <a:r>
                <a:rPr lang="en-US" sz="403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ABDALLAH I. J. DWIKAT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690189"/>
              <a:ext cx="14368659" cy="4662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31"/>
                </a:lnSpc>
                <a:spcBef>
                  <a:spcPct val="0"/>
                </a:spcBef>
              </a:pPr>
              <a:r>
                <a:rPr lang="en-US" sz="3596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</a:t>
              </a:r>
              <a:r>
                <a:rPr lang="en-US" sz="3596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roject Advisor: Prof. Dr. Rafet AKDENIZ</a:t>
              </a:r>
            </a:p>
            <a:p>
              <a:pPr algn="ctr">
                <a:lnSpc>
                  <a:spcPts val="4531"/>
                </a:lnSpc>
                <a:spcBef>
                  <a:spcPct val="0"/>
                </a:spcBef>
              </a:pPr>
              <a:r>
                <a:rPr lang="en-US" sz="3596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Project Co-Advisor: Prof. Dr. Dilara ARSLAN</a:t>
              </a:r>
            </a:p>
            <a:p>
              <a:pPr algn="ctr">
                <a:lnSpc>
                  <a:spcPts val="4659"/>
                </a:lnSpc>
                <a:spcBef>
                  <a:spcPct val="0"/>
                </a:spcBef>
              </a:pPr>
              <a:r>
                <a:rPr lang="en-US" sz="3698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 </a:t>
              </a:r>
            </a:p>
            <a:p>
              <a:pPr algn="ctr">
                <a:lnSpc>
                  <a:spcPts val="4659"/>
                </a:lnSpc>
                <a:spcBef>
                  <a:spcPct val="0"/>
                </a:spcBef>
              </a:pPr>
            </a:p>
            <a:p>
              <a:pPr algn="ctr">
                <a:lnSpc>
                  <a:spcPts val="4659"/>
                </a:lnSpc>
                <a:spcBef>
                  <a:spcPct val="0"/>
                </a:spcBef>
              </a:pPr>
              <a:r>
                <a:rPr lang="en-US" sz="3698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      June, 2025</a:t>
              </a:r>
            </a:p>
            <a:p>
              <a:pPr algn="ctr">
                <a:lnSpc>
                  <a:spcPts val="4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8291" y="1028700"/>
            <a:ext cx="8928673" cy="1899475"/>
            <a:chOff x="0" y="0"/>
            <a:chExt cx="11904897" cy="2532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04897" cy="2532634"/>
            </a:xfrm>
            <a:custGeom>
              <a:avLst/>
              <a:gdLst/>
              <a:ahLst/>
              <a:cxnLst/>
              <a:rect r="r" b="b" t="t" l="l"/>
              <a:pathLst>
                <a:path h="2532634" w="11904897">
                  <a:moveTo>
                    <a:pt x="0" y="0"/>
                  </a:moveTo>
                  <a:lnTo>
                    <a:pt x="11904897" y="0"/>
                  </a:lnTo>
                  <a:lnTo>
                    <a:pt x="11904897" y="2532634"/>
                  </a:lnTo>
                  <a:lnTo>
                    <a:pt x="0" y="2532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904897" cy="25802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Typical types of Dental Anomalies 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8291" y="3324309"/>
            <a:ext cx="7686702" cy="732624"/>
            <a:chOff x="0" y="0"/>
            <a:chExt cx="10248935" cy="9768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8936" cy="976832"/>
            </a:xfrm>
            <a:custGeom>
              <a:avLst/>
              <a:gdLst/>
              <a:ahLst/>
              <a:cxnLst/>
              <a:rect r="r" b="b" t="t" l="l"/>
              <a:pathLst>
                <a:path h="976832" w="10248936">
                  <a:moveTo>
                    <a:pt x="0" y="0"/>
                  </a:moveTo>
                  <a:lnTo>
                    <a:pt x="10248936" y="0"/>
                  </a:lnTo>
                  <a:lnTo>
                    <a:pt x="10248936" y="976832"/>
                  </a:lnTo>
                  <a:lnTo>
                    <a:pt x="0" y="97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48935" cy="10149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16"/>
                </a:lnSpc>
              </a:pPr>
              <a:r>
                <a:rPr lang="en-US" sz="437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Abnormalities Detection Types: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291" y="4782181"/>
            <a:ext cx="5855563" cy="5187681"/>
            <a:chOff x="0" y="0"/>
            <a:chExt cx="7807417" cy="6916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7417" cy="6916909"/>
            </a:xfrm>
            <a:custGeom>
              <a:avLst/>
              <a:gdLst/>
              <a:ahLst/>
              <a:cxnLst/>
              <a:rect r="r" b="b" t="t" l="l"/>
              <a:pathLst>
                <a:path h="6916909" w="7807417">
                  <a:moveTo>
                    <a:pt x="0" y="0"/>
                  </a:moveTo>
                  <a:lnTo>
                    <a:pt x="7807417" y="0"/>
                  </a:lnTo>
                  <a:lnTo>
                    <a:pt x="7807417" y="6916909"/>
                  </a:lnTo>
                  <a:lnTo>
                    <a:pt x="0" y="6916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80975"/>
              <a:ext cx="7807417" cy="709788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904071" indent="-452035" lvl="1">
                <a:lnSpc>
                  <a:spcPts val="6817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Impacted_tooth</a:t>
              </a:r>
            </a:p>
            <a:p>
              <a:pPr algn="l" marL="904071" indent="-452035" lvl="1">
                <a:lnSpc>
                  <a:spcPts val="6817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Filling</a:t>
              </a:r>
            </a:p>
            <a:p>
              <a:pPr algn="l" marL="904071" indent="-452035" lvl="1">
                <a:lnSpc>
                  <a:spcPts val="6817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Implant</a:t>
              </a:r>
            </a:p>
            <a:p>
              <a:pPr algn="l" marL="904071" indent="-452035" lvl="1">
                <a:lnSpc>
                  <a:spcPts val="6817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Root Canal</a:t>
              </a:r>
            </a:p>
            <a:p>
              <a:pPr algn="l" marL="904071" indent="-452035" lvl="1">
                <a:lnSpc>
                  <a:spcPts val="6817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Extraction</a:t>
              </a:r>
            </a:p>
            <a:p>
              <a:pPr algn="l" marL="904071" indent="-452035" lvl="1">
                <a:lnSpc>
                  <a:spcPts val="6819"/>
                </a:lnSpc>
                <a:buFont typeface="Arial"/>
                <a:buChar char="•"/>
              </a:pPr>
              <a:r>
                <a:rPr lang="en-US" sz="4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Crown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76964" y="1289973"/>
            <a:ext cx="8135852" cy="4352681"/>
          </a:xfrm>
          <a:custGeom>
            <a:avLst/>
            <a:gdLst/>
            <a:ahLst/>
            <a:cxnLst/>
            <a:rect r="r" b="b" t="t" l="l"/>
            <a:pathLst>
              <a:path h="4352681" w="8135852">
                <a:moveTo>
                  <a:pt x="0" y="0"/>
                </a:moveTo>
                <a:lnTo>
                  <a:pt x="8135852" y="0"/>
                </a:lnTo>
                <a:lnTo>
                  <a:pt x="8135852" y="4352681"/>
                </a:lnTo>
                <a:lnTo>
                  <a:pt x="0" y="4352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86794" y="5837622"/>
            <a:ext cx="4514413" cy="4132240"/>
          </a:xfrm>
          <a:custGeom>
            <a:avLst/>
            <a:gdLst/>
            <a:ahLst/>
            <a:cxnLst/>
            <a:rect r="r" b="b" t="t" l="l"/>
            <a:pathLst>
              <a:path h="4132240" w="4514413">
                <a:moveTo>
                  <a:pt x="0" y="0"/>
                </a:moveTo>
                <a:lnTo>
                  <a:pt x="4514412" y="0"/>
                </a:lnTo>
                <a:lnTo>
                  <a:pt x="4514412" y="4132240"/>
                </a:lnTo>
                <a:lnTo>
                  <a:pt x="0" y="4132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942688" y="3709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798" y="890225"/>
            <a:ext cx="11013724" cy="995489"/>
            <a:chOff x="0" y="0"/>
            <a:chExt cx="14684965" cy="1327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84966" cy="1327318"/>
            </a:xfrm>
            <a:custGeom>
              <a:avLst/>
              <a:gdLst/>
              <a:ahLst/>
              <a:cxnLst/>
              <a:rect r="r" b="b" t="t" l="l"/>
              <a:pathLst>
                <a:path h="1327318" w="14684966">
                  <a:moveTo>
                    <a:pt x="0" y="0"/>
                  </a:moveTo>
                  <a:lnTo>
                    <a:pt x="14684966" y="0"/>
                  </a:lnTo>
                  <a:lnTo>
                    <a:pt x="14684966" y="1327318"/>
                  </a:lnTo>
                  <a:lnTo>
                    <a:pt x="0" y="132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84965" cy="13749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438"/>
                </a:lnSpc>
              </a:pPr>
              <a:r>
                <a:rPr lang="en-US" sz="59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The problem / </a:t>
              </a:r>
              <a:r>
                <a:rPr lang="en-US" sz="59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Current Issues: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227" y="2898336"/>
            <a:ext cx="9746867" cy="1389233"/>
            <a:chOff x="0" y="0"/>
            <a:chExt cx="12995822" cy="185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5823" cy="1852310"/>
            </a:xfrm>
            <a:custGeom>
              <a:avLst/>
              <a:gdLst/>
              <a:ahLst/>
              <a:cxnLst/>
              <a:rect r="r" b="b" t="t" l="l"/>
              <a:pathLst>
                <a:path h="1852310" w="12995823">
                  <a:moveTo>
                    <a:pt x="0" y="0"/>
                  </a:moveTo>
                  <a:lnTo>
                    <a:pt x="12995823" y="0"/>
                  </a:lnTo>
                  <a:lnTo>
                    <a:pt x="12995823" y="1852310"/>
                  </a:lnTo>
                  <a:lnTo>
                    <a:pt x="0" y="18523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995822" cy="18808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86"/>
                </a:lnSpc>
              </a:pPr>
              <a:r>
                <a:rPr lang="en-US" sz="427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Disadvantages of Manual Interpretation:</a:t>
              </a:r>
            </a:p>
            <a:p>
              <a:pPr algn="l">
                <a:lnSpc>
                  <a:spcPts val="539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580154" y="4341148"/>
            <a:ext cx="7879206" cy="5507538"/>
          </a:xfrm>
          <a:custGeom>
            <a:avLst/>
            <a:gdLst/>
            <a:ahLst/>
            <a:cxnLst/>
            <a:rect r="r" b="b" t="t" l="l"/>
            <a:pathLst>
              <a:path h="5507538" w="7879206">
                <a:moveTo>
                  <a:pt x="0" y="0"/>
                </a:moveTo>
                <a:lnTo>
                  <a:pt x="7879205" y="0"/>
                </a:lnTo>
                <a:lnTo>
                  <a:pt x="7879205" y="5507538"/>
                </a:lnTo>
                <a:lnTo>
                  <a:pt x="0" y="5507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00" t="-6133" r="0" b="-61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66790" y="890225"/>
            <a:ext cx="4299765" cy="3297957"/>
          </a:xfrm>
          <a:custGeom>
            <a:avLst/>
            <a:gdLst/>
            <a:ahLst/>
            <a:cxnLst/>
            <a:rect r="r" b="b" t="t" l="l"/>
            <a:pathLst>
              <a:path h="3297957" w="4299765">
                <a:moveTo>
                  <a:pt x="0" y="0"/>
                </a:moveTo>
                <a:lnTo>
                  <a:pt x="4299765" y="0"/>
                </a:lnTo>
                <a:lnTo>
                  <a:pt x="4299765" y="3297957"/>
                </a:lnTo>
                <a:lnTo>
                  <a:pt x="0" y="3297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734" r="0" b="-14734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48227" y="4837567"/>
            <a:ext cx="8178960" cy="6098525"/>
            <a:chOff x="0" y="0"/>
            <a:chExt cx="9844268" cy="73402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44268" cy="7340238"/>
            </a:xfrm>
            <a:custGeom>
              <a:avLst/>
              <a:gdLst/>
              <a:ahLst/>
              <a:cxnLst/>
              <a:rect r="r" b="b" t="t" l="l"/>
              <a:pathLst>
                <a:path h="7340238" w="9844268">
                  <a:moveTo>
                    <a:pt x="0" y="0"/>
                  </a:moveTo>
                  <a:lnTo>
                    <a:pt x="9844268" y="0"/>
                  </a:lnTo>
                  <a:lnTo>
                    <a:pt x="9844268" y="7340238"/>
                  </a:lnTo>
                  <a:lnTo>
                    <a:pt x="0" y="7340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52400"/>
              <a:ext cx="9844268" cy="74926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14"/>
                </a:lnSpc>
              </a:pPr>
              <a:r>
                <a:rPr lang="en-US" sz="3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1. Tim</a:t>
              </a:r>
              <a:r>
                <a:rPr lang="en-US" sz="3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e-Consuming &amp; Inefficient</a:t>
              </a:r>
            </a:p>
            <a:p>
              <a:pPr algn="l">
                <a:lnSpc>
                  <a:spcPts val="5514"/>
                </a:lnSpc>
              </a:pPr>
            </a:p>
            <a:p>
              <a:pPr algn="l">
                <a:lnSpc>
                  <a:spcPts val="5514"/>
                </a:lnSpc>
              </a:pPr>
              <a:r>
                <a:rPr lang="en-US" sz="3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r>
                <a:rPr lang="en-US" sz="3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 Human Error &amp; Inconsistency</a:t>
              </a:r>
            </a:p>
            <a:p>
              <a:pPr algn="l">
                <a:lnSpc>
                  <a:spcPts val="5514"/>
                </a:lnSpc>
              </a:pPr>
            </a:p>
            <a:p>
              <a:pPr algn="l">
                <a:lnSpc>
                  <a:spcPts val="5514"/>
                </a:lnSpc>
              </a:pPr>
              <a:r>
                <a:rPr lang="en-US" sz="3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3. Accessibility Issues</a:t>
              </a:r>
            </a:p>
            <a:p>
              <a:pPr algn="l">
                <a:lnSpc>
                  <a:spcPts val="5514"/>
                </a:lnSpc>
              </a:pPr>
            </a:p>
            <a:p>
              <a:pPr algn="l">
                <a:lnSpc>
                  <a:spcPts val="5516"/>
                </a:lnSpc>
              </a:pPr>
            </a:p>
            <a:p>
              <a:pPr algn="l">
                <a:lnSpc>
                  <a:spcPts val="5514"/>
                </a:lnSpc>
              </a:pPr>
            </a:p>
            <a:p>
              <a:pPr algn="l">
                <a:lnSpc>
                  <a:spcPts val="404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942688" y="0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3"/>
                </a:lnTo>
                <a:lnTo>
                  <a:pt x="0" y="1286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8227" y="894854"/>
            <a:ext cx="9732629" cy="975550"/>
            <a:chOff x="0" y="0"/>
            <a:chExt cx="12976839" cy="130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76839" cy="1300734"/>
            </a:xfrm>
            <a:custGeom>
              <a:avLst/>
              <a:gdLst/>
              <a:ahLst/>
              <a:cxnLst/>
              <a:rect r="r" b="b" t="t" l="l"/>
              <a:pathLst>
                <a:path h="1300734" w="12976839">
                  <a:moveTo>
                    <a:pt x="0" y="0"/>
                  </a:moveTo>
                  <a:lnTo>
                    <a:pt x="12976839" y="0"/>
                  </a:lnTo>
                  <a:lnTo>
                    <a:pt x="12976839" y="1300734"/>
                  </a:lnTo>
                  <a:lnTo>
                    <a:pt x="0" y="13007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976839" cy="13483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Why to Automate the process?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227" y="2326381"/>
            <a:ext cx="7395006" cy="632259"/>
            <a:chOff x="0" y="0"/>
            <a:chExt cx="9860008" cy="8430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60008" cy="843012"/>
            </a:xfrm>
            <a:custGeom>
              <a:avLst/>
              <a:gdLst/>
              <a:ahLst/>
              <a:cxnLst/>
              <a:rect r="r" b="b" t="t" l="l"/>
              <a:pathLst>
                <a:path h="843012" w="9860008">
                  <a:moveTo>
                    <a:pt x="0" y="0"/>
                  </a:moveTo>
                  <a:lnTo>
                    <a:pt x="9860008" y="0"/>
                  </a:lnTo>
                  <a:lnTo>
                    <a:pt x="9860008" y="843012"/>
                  </a:lnTo>
                  <a:lnTo>
                    <a:pt x="0" y="843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860008" cy="8715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59"/>
                </a:lnSpc>
              </a:pPr>
              <a:r>
                <a:rPr lang="en-US" sz="377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Benifits of Automating this process: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8227" y="3481121"/>
            <a:ext cx="9983886" cy="6223938"/>
            <a:chOff x="0" y="0"/>
            <a:chExt cx="12016692" cy="74911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6692" cy="7491186"/>
            </a:xfrm>
            <a:custGeom>
              <a:avLst/>
              <a:gdLst/>
              <a:ahLst/>
              <a:cxnLst/>
              <a:rect r="r" b="b" t="t" l="l"/>
              <a:pathLst>
                <a:path h="7491186" w="12016692">
                  <a:moveTo>
                    <a:pt x="0" y="0"/>
                  </a:moveTo>
                  <a:lnTo>
                    <a:pt x="12016692" y="0"/>
                  </a:lnTo>
                  <a:lnTo>
                    <a:pt x="12016692" y="7491186"/>
                  </a:lnTo>
                  <a:lnTo>
                    <a:pt x="0" y="74911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12016692" cy="76245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26"/>
                </a:lnSpc>
              </a:pP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1. Autom</a:t>
              </a: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ating detection → Faster, cheaper diagnoses.</a:t>
              </a:r>
            </a:p>
            <a:p>
              <a:pPr algn="l">
                <a:lnSpc>
                  <a:spcPts val="5026"/>
                </a:lnSpc>
              </a:pPr>
            </a:p>
            <a:p>
              <a:pPr algn="l">
                <a:lnSpc>
                  <a:spcPts val="5028"/>
                </a:lnSpc>
              </a:pP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 Assisting dentists → Lets them focus on treatment, not detection.</a:t>
              </a:r>
            </a:p>
            <a:p>
              <a:pPr algn="l">
                <a:lnSpc>
                  <a:spcPts val="5026"/>
                </a:lnSpc>
              </a:pPr>
            </a:p>
            <a:p>
              <a:pPr algn="l">
                <a:lnSpc>
                  <a:spcPts val="5026"/>
                </a:lnSpc>
              </a:pP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3. Scalable → Can screen thousands of X-rays/day.</a:t>
              </a:r>
            </a:p>
            <a:p>
              <a:pPr algn="l">
                <a:lnSpc>
                  <a:spcPts val="3561"/>
                </a:lnSpc>
              </a:pPr>
            </a:p>
            <a:p>
              <a:pPr algn="l">
                <a:lnSpc>
                  <a:spcPts val="5026"/>
                </a:lnSpc>
              </a:pPr>
              <a:r>
                <a:rPr lang="en-US" sz="30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4. More Accurate → 95.3% mAP vs. human error rates.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32113" y="1310887"/>
            <a:ext cx="7544801" cy="8229600"/>
          </a:xfrm>
          <a:custGeom>
            <a:avLst/>
            <a:gdLst/>
            <a:ahLst/>
            <a:cxnLst/>
            <a:rect r="r" b="b" t="t" l="l"/>
            <a:pathLst>
              <a:path h="8229600" w="7544801">
                <a:moveTo>
                  <a:pt x="0" y="0"/>
                </a:moveTo>
                <a:lnTo>
                  <a:pt x="7544801" y="0"/>
                </a:lnTo>
                <a:lnTo>
                  <a:pt x="75448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76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32113" y="9540487"/>
            <a:ext cx="7395006" cy="601979"/>
            <a:chOff x="0" y="0"/>
            <a:chExt cx="9860008" cy="802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60008" cy="802638"/>
            </a:xfrm>
            <a:custGeom>
              <a:avLst/>
              <a:gdLst/>
              <a:ahLst/>
              <a:cxnLst/>
              <a:rect r="r" b="b" t="t" l="l"/>
              <a:pathLst>
                <a:path h="802638" w="9860008">
                  <a:moveTo>
                    <a:pt x="0" y="0"/>
                  </a:moveTo>
                  <a:lnTo>
                    <a:pt x="9860008" y="0"/>
                  </a:lnTo>
                  <a:lnTo>
                    <a:pt x="9860008" y="802638"/>
                  </a:lnTo>
                  <a:lnTo>
                    <a:pt x="0" y="802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860008" cy="8312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29"/>
                </a:lnSpc>
              </a:pPr>
              <a:r>
                <a:rPr lang="en-US" sz="3274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Note: AI Generated Image (Copilot)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-31692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45475" y="1075003"/>
            <a:ext cx="7442746" cy="975550"/>
            <a:chOff x="0" y="0"/>
            <a:chExt cx="9923662" cy="1300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662" cy="1300734"/>
            </a:xfrm>
            <a:custGeom>
              <a:avLst/>
              <a:gdLst/>
              <a:ahLst/>
              <a:cxnLst/>
              <a:rect r="r" b="b" t="t" l="l"/>
              <a:pathLst>
                <a:path h="1300734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300734"/>
                  </a:lnTo>
                  <a:lnTo>
                    <a:pt x="0" y="13007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923662" cy="13483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Research Purpose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38005" y="3001589"/>
            <a:ext cx="647402" cy="647402"/>
            <a:chOff x="0" y="0"/>
            <a:chExt cx="863203" cy="863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7238463" y="3046238"/>
            <a:ext cx="446485" cy="558105"/>
          </a:xfrm>
          <a:custGeom>
            <a:avLst/>
            <a:gdLst/>
            <a:ahLst/>
            <a:cxnLst/>
            <a:rect r="r" b="b" t="t" l="l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2" r="0" b="-212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064162" y="3006351"/>
            <a:ext cx="4228297" cy="612356"/>
            <a:chOff x="0" y="0"/>
            <a:chExt cx="5637729" cy="816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37729" cy="816475"/>
            </a:xfrm>
            <a:custGeom>
              <a:avLst/>
              <a:gdLst/>
              <a:ahLst/>
              <a:cxnLst/>
              <a:rect r="r" b="b" t="t" l="l"/>
              <a:pathLst>
                <a:path h="816475" w="5637729">
                  <a:moveTo>
                    <a:pt x="0" y="0"/>
                  </a:moveTo>
                  <a:lnTo>
                    <a:pt x="5637729" y="0"/>
                  </a:lnTo>
                  <a:lnTo>
                    <a:pt x="5637729" y="816475"/>
                  </a:lnTo>
                  <a:lnTo>
                    <a:pt x="0" y="81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637729" cy="854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33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Develop AI System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07164" y="3693640"/>
            <a:ext cx="4652986" cy="1743809"/>
            <a:chOff x="0" y="0"/>
            <a:chExt cx="6203981" cy="23250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03981" cy="2325079"/>
            </a:xfrm>
            <a:custGeom>
              <a:avLst/>
              <a:gdLst/>
              <a:ahLst/>
              <a:cxnLst/>
              <a:rect r="r" b="b" t="t" l="l"/>
              <a:pathLst>
                <a:path h="2325079" w="6203981">
                  <a:moveTo>
                    <a:pt x="0" y="0"/>
                  </a:moveTo>
                  <a:lnTo>
                    <a:pt x="6203981" y="0"/>
                  </a:lnTo>
                  <a:lnTo>
                    <a:pt x="6203981" y="2325079"/>
                  </a:lnTo>
                  <a:lnTo>
                    <a:pt x="0" y="2325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6203981" cy="24489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Create an accurate AI system for dental anomaly detection.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10910" y="3046238"/>
            <a:ext cx="647402" cy="647402"/>
            <a:chOff x="0" y="0"/>
            <a:chExt cx="863203" cy="86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3111369" y="3090886"/>
            <a:ext cx="446485" cy="558105"/>
          </a:xfrm>
          <a:custGeom>
            <a:avLst/>
            <a:gdLst/>
            <a:ahLst/>
            <a:cxnLst/>
            <a:rect r="r" b="b" t="t" l="l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2" r="0" b="-212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937068" y="3051000"/>
            <a:ext cx="3659684" cy="612356"/>
            <a:chOff x="0" y="0"/>
            <a:chExt cx="4879578" cy="8164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9579" cy="816475"/>
            </a:xfrm>
            <a:custGeom>
              <a:avLst/>
              <a:gdLst/>
              <a:ahLst/>
              <a:cxnLst/>
              <a:rect r="r" b="b" t="t" l="l"/>
              <a:pathLst>
                <a:path h="816475" w="4879579">
                  <a:moveTo>
                    <a:pt x="0" y="0"/>
                  </a:moveTo>
                  <a:lnTo>
                    <a:pt x="4879579" y="0"/>
                  </a:lnTo>
                  <a:lnTo>
                    <a:pt x="4879579" y="816475"/>
                  </a:lnTo>
                  <a:lnTo>
                    <a:pt x="0" y="81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9578" cy="854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33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Reduce Errors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37068" y="3971191"/>
            <a:ext cx="3322232" cy="1172309"/>
            <a:chOff x="0" y="0"/>
            <a:chExt cx="4429643" cy="1563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29643" cy="1563079"/>
            </a:xfrm>
            <a:custGeom>
              <a:avLst/>
              <a:gdLst/>
              <a:ahLst/>
              <a:cxnLst/>
              <a:rect r="r" b="b" t="t" l="l"/>
              <a:pathLst>
                <a:path h="1563079" w="4429643">
                  <a:moveTo>
                    <a:pt x="0" y="0"/>
                  </a:moveTo>
                  <a:lnTo>
                    <a:pt x="4429643" y="0"/>
                  </a:lnTo>
                  <a:lnTo>
                    <a:pt x="4429643" y="1563079"/>
                  </a:lnTo>
                  <a:lnTo>
                    <a:pt x="0" y="1563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4429643" cy="16869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Reduce diagnostic errors.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38463" y="6816328"/>
            <a:ext cx="647402" cy="647403"/>
            <a:chOff x="0" y="0"/>
            <a:chExt cx="863203" cy="863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CCEE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2D4E5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7338922" y="6860977"/>
            <a:ext cx="446485" cy="558105"/>
          </a:xfrm>
          <a:custGeom>
            <a:avLst/>
            <a:gdLst/>
            <a:ahLst/>
            <a:cxnLst/>
            <a:rect r="r" b="b" t="t" l="l"/>
            <a:pathLst>
              <a:path h="558105" w="446485">
                <a:moveTo>
                  <a:pt x="0" y="0"/>
                </a:moveTo>
                <a:lnTo>
                  <a:pt x="446485" y="0"/>
                </a:lnTo>
                <a:lnTo>
                  <a:pt x="446485" y="558105"/>
                </a:lnTo>
                <a:lnTo>
                  <a:pt x="0" y="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12" r="0" b="-212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8164621" y="6821090"/>
            <a:ext cx="3721299" cy="652161"/>
            <a:chOff x="0" y="0"/>
            <a:chExt cx="4961732" cy="8695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61732" cy="869548"/>
            </a:xfrm>
            <a:custGeom>
              <a:avLst/>
              <a:gdLst/>
              <a:ahLst/>
              <a:cxnLst/>
              <a:rect r="r" b="b" t="t" l="l"/>
              <a:pathLst>
                <a:path h="869548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69548"/>
                  </a:lnTo>
                  <a:lnTo>
                    <a:pt x="0" y="86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961732" cy="8981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85"/>
                </a:lnSpc>
              </a:pPr>
              <a:r>
                <a:rPr lang="en-US" sz="38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Faster Screening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64621" y="7628377"/>
            <a:ext cx="8778067" cy="1802011"/>
            <a:chOff x="0" y="0"/>
            <a:chExt cx="11704090" cy="24026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04090" cy="2402681"/>
            </a:xfrm>
            <a:custGeom>
              <a:avLst/>
              <a:gdLst/>
              <a:ahLst/>
              <a:cxnLst/>
              <a:rect r="r" b="b" t="t" l="l"/>
              <a:pathLst>
                <a:path h="2402681" w="11704090">
                  <a:moveTo>
                    <a:pt x="0" y="0"/>
                  </a:moveTo>
                  <a:lnTo>
                    <a:pt x="11704090" y="0"/>
                  </a:lnTo>
                  <a:lnTo>
                    <a:pt x="11704090" y="2402681"/>
                  </a:lnTo>
                  <a:lnTo>
                    <a:pt x="0" y="24026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33350"/>
              <a:ext cx="11704090" cy="253603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02"/>
                </a:lnSpc>
              </a:pPr>
              <a:r>
                <a:rPr lang="en-US" sz="28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Develop a faster, more reliable screening method. Improve early detection of dental pathologies and patient care.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018" y="1028700"/>
            <a:ext cx="7442746" cy="975551"/>
            <a:chOff x="0" y="0"/>
            <a:chExt cx="9923662" cy="130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23662" cy="1300734"/>
            </a:xfrm>
            <a:custGeom>
              <a:avLst/>
              <a:gdLst/>
              <a:ahLst/>
              <a:cxnLst/>
              <a:rect r="r" b="b" t="t" l="l"/>
              <a:pathLst>
                <a:path h="1300734" w="9923662">
                  <a:moveTo>
                    <a:pt x="0" y="0"/>
                  </a:moveTo>
                  <a:lnTo>
                    <a:pt x="9923662" y="0"/>
                  </a:lnTo>
                  <a:lnTo>
                    <a:pt x="9923662" y="1300734"/>
                  </a:lnTo>
                  <a:lnTo>
                    <a:pt x="0" y="13007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923662" cy="13483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Technology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3187" y="2997507"/>
            <a:ext cx="7912515" cy="601979"/>
            <a:chOff x="0" y="0"/>
            <a:chExt cx="10550020" cy="802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50020" cy="802638"/>
            </a:xfrm>
            <a:custGeom>
              <a:avLst/>
              <a:gdLst/>
              <a:ahLst/>
              <a:cxnLst/>
              <a:rect r="r" b="b" t="t" l="l"/>
              <a:pathLst>
                <a:path h="802638" w="10550020">
                  <a:moveTo>
                    <a:pt x="0" y="0"/>
                  </a:moveTo>
                  <a:lnTo>
                    <a:pt x="10550020" y="0"/>
                  </a:lnTo>
                  <a:lnTo>
                    <a:pt x="10550020" y="802638"/>
                  </a:lnTo>
                  <a:lnTo>
                    <a:pt x="0" y="802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550020" cy="840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7"/>
                </a:lnSpc>
              </a:pPr>
              <a:r>
                <a:rPr lang="en-US" sz="35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YOLOv8: You Only Look Once version 8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819622" y="3401248"/>
            <a:ext cx="3185636" cy="3321189"/>
          </a:xfrm>
          <a:custGeom>
            <a:avLst/>
            <a:gdLst/>
            <a:ahLst/>
            <a:cxnLst/>
            <a:rect r="r" b="b" t="t" l="l"/>
            <a:pathLst>
              <a:path h="3321189" w="3185636">
                <a:moveTo>
                  <a:pt x="0" y="0"/>
                </a:moveTo>
                <a:lnTo>
                  <a:pt x="3185636" y="0"/>
                </a:lnTo>
                <a:lnTo>
                  <a:pt x="3185636" y="3321189"/>
                </a:lnTo>
                <a:lnTo>
                  <a:pt x="0" y="3321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32" t="0" r="-1505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80032" y="3599485"/>
            <a:ext cx="2944837" cy="3122952"/>
          </a:xfrm>
          <a:custGeom>
            <a:avLst/>
            <a:gdLst/>
            <a:ahLst/>
            <a:cxnLst/>
            <a:rect r="r" b="b" t="t" l="l"/>
            <a:pathLst>
              <a:path h="3122952" w="2944837">
                <a:moveTo>
                  <a:pt x="0" y="0"/>
                </a:moveTo>
                <a:lnTo>
                  <a:pt x="2944837" y="0"/>
                </a:lnTo>
                <a:lnTo>
                  <a:pt x="2944837" y="3122952"/>
                </a:lnTo>
                <a:lnTo>
                  <a:pt x="0" y="312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04653" y="7149558"/>
            <a:ext cx="5262005" cy="2981914"/>
          </a:xfrm>
          <a:custGeom>
            <a:avLst/>
            <a:gdLst/>
            <a:ahLst/>
            <a:cxnLst/>
            <a:rect r="r" b="b" t="t" l="l"/>
            <a:pathLst>
              <a:path h="2981914" w="5262005">
                <a:moveTo>
                  <a:pt x="0" y="0"/>
                </a:moveTo>
                <a:lnTo>
                  <a:pt x="5262005" y="0"/>
                </a:lnTo>
                <a:lnTo>
                  <a:pt x="5262005" y="2981914"/>
                </a:lnTo>
                <a:lnTo>
                  <a:pt x="0" y="2981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290" r="0" b="-329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04653" y="665725"/>
            <a:ext cx="5056312" cy="2383098"/>
          </a:xfrm>
          <a:custGeom>
            <a:avLst/>
            <a:gdLst/>
            <a:ahLst/>
            <a:cxnLst/>
            <a:rect r="r" b="b" t="t" l="l"/>
            <a:pathLst>
              <a:path h="2383098" w="5056312">
                <a:moveTo>
                  <a:pt x="0" y="0"/>
                </a:moveTo>
                <a:lnTo>
                  <a:pt x="5056313" y="0"/>
                </a:lnTo>
                <a:lnTo>
                  <a:pt x="5056313" y="2383098"/>
                </a:lnTo>
                <a:lnTo>
                  <a:pt x="0" y="2383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03187" y="4590085"/>
            <a:ext cx="9582091" cy="1173479"/>
            <a:chOff x="0" y="0"/>
            <a:chExt cx="12776122" cy="1564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76122" cy="1564638"/>
            </a:xfrm>
            <a:custGeom>
              <a:avLst/>
              <a:gdLst/>
              <a:ahLst/>
              <a:cxnLst/>
              <a:rect r="r" b="b" t="t" l="l"/>
              <a:pathLst>
                <a:path h="1564638" w="12776122">
                  <a:moveTo>
                    <a:pt x="0" y="0"/>
                  </a:moveTo>
                  <a:lnTo>
                    <a:pt x="12776122" y="0"/>
                  </a:lnTo>
                  <a:lnTo>
                    <a:pt x="12776122" y="1564638"/>
                  </a:lnTo>
                  <a:lnTo>
                    <a:pt x="0" y="1564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776122" cy="1602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7"/>
                </a:lnSpc>
              </a:pPr>
              <a:r>
                <a:rPr lang="en-US" sz="35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Python: Jupyter Notebook (Image Processing and model training)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7416" y="8536397"/>
            <a:ext cx="7262407" cy="601979"/>
            <a:chOff x="0" y="0"/>
            <a:chExt cx="9683209" cy="8026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83210" cy="802638"/>
            </a:xfrm>
            <a:custGeom>
              <a:avLst/>
              <a:gdLst/>
              <a:ahLst/>
              <a:cxnLst/>
              <a:rect r="r" b="b" t="t" l="l"/>
              <a:pathLst>
                <a:path h="802638" w="9683210">
                  <a:moveTo>
                    <a:pt x="0" y="0"/>
                  </a:moveTo>
                  <a:lnTo>
                    <a:pt x="9683210" y="0"/>
                  </a:lnTo>
                  <a:lnTo>
                    <a:pt x="9683210" y="802638"/>
                  </a:lnTo>
                  <a:lnTo>
                    <a:pt x="0" y="802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83209" cy="840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7"/>
                </a:lnSpc>
              </a:pPr>
              <a:r>
                <a:rPr lang="en-US" sz="35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User Interface: HTML and CSS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7416" y="6562819"/>
            <a:ext cx="9582091" cy="1173479"/>
            <a:chOff x="0" y="0"/>
            <a:chExt cx="12776122" cy="15646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76122" cy="1564638"/>
            </a:xfrm>
            <a:custGeom>
              <a:avLst/>
              <a:gdLst/>
              <a:ahLst/>
              <a:cxnLst/>
              <a:rect r="r" b="b" t="t" l="l"/>
              <a:pathLst>
                <a:path h="1564638" w="12776122">
                  <a:moveTo>
                    <a:pt x="0" y="0"/>
                  </a:moveTo>
                  <a:lnTo>
                    <a:pt x="12776122" y="0"/>
                  </a:lnTo>
                  <a:lnTo>
                    <a:pt x="12776122" y="1564638"/>
                  </a:lnTo>
                  <a:lnTo>
                    <a:pt x="0" y="1564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776122" cy="1602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7"/>
                </a:lnSpc>
              </a:pPr>
              <a:r>
                <a:rPr lang="en-US" sz="35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Flask: Python framework, enabling integration between YOLOv8 and web interface.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6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6956" y="1028700"/>
            <a:ext cx="11775281" cy="975550"/>
            <a:chOff x="0" y="0"/>
            <a:chExt cx="15700375" cy="13007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00375" cy="1300734"/>
            </a:xfrm>
            <a:custGeom>
              <a:avLst/>
              <a:gdLst/>
              <a:ahLst/>
              <a:cxnLst/>
              <a:rect r="r" b="b" t="t" l="l"/>
              <a:pathLst>
                <a:path h="1300734" w="15700375">
                  <a:moveTo>
                    <a:pt x="0" y="0"/>
                  </a:moveTo>
                  <a:lnTo>
                    <a:pt x="15700375" y="0"/>
                  </a:lnTo>
                  <a:lnTo>
                    <a:pt x="15700375" y="1300734"/>
                  </a:lnTo>
                  <a:lnTo>
                    <a:pt x="0" y="1300734"/>
                  </a:lnTo>
                  <a:close/>
                </a:path>
              </a:pathLst>
            </a:custGeom>
            <a:solidFill>
              <a:srgbClr val="FF3131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00375" cy="13483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Methodology: Dataset and YOLOv8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62327"/>
            <a:ext cx="3721299" cy="662539"/>
            <a:chOff x="0" y="0"/>
            <a:chExt cx="4961732" cy="8833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61732" cy="883385"/>
            </a:xfrm>
            <a:custGeom>
              <a:avLst/>
              <a:gdLst/>
              <a:ahLst/>
              <a:cxnLst/>
              <a:rect r="r" b="b" t="t" l="l"/>
              <a:pathLst>
                <a:path h="883385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83385"/>
                  </a:lnTo>
                  <a:lnTo>
                    <a:pt x="0" y="88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61732" cy="92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Data Annotation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2237" y="5754393"/>
            <a:ext cx="4731544" cy="561386"/>
            <a:chOff x="0" y="0"/>
            <a:chExt cx="6308725" cy="7485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08725" cy="748515"/>
            </a:xfrm>
            <a:custGeom>
              <a:avLst/>
              <a:gdLst/>
              <a:ahLst/>
              <a:cxnLst/>
              <a:rect r="r" b="b" t="t" l="l"/>
              <a:pathLst>
                <a:path h="748515" w="6308725">
                  <a:moveTo>
                    <a:pt x="0" y="0"/>
                  </a:moveTo>
                  <a:lnTo>
                    <a:pt x="6308725" y="0"/>
                  </a:lnTo>
                  <a:lnTo>
                    <a:pt x="6308725" y="748515"/>
                  </a:lnTo>
                  <a:lnTo>
                    <a:pt x="0" y="7485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6308725" cy="8628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00 images with annotations</a:t>
              </a:r>
            </a:p>
          </p:txBody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6290816" y="2652712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964264" y="4897190"/>
            <a:ext cx="424160" cy="530275"/>
            <a:chOff x="0" y="0"/>
            <a:chExt cx="565547" cy="7070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97035" y="4063752"/>
            <a:ext cx="4873526" cy="560606"/>
            <a:chOff x="0" y="0"/>
            <a:chExt cx="6498035" cy="7474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8035" cy="747475"/>
            </a:xfrm>
            <a:custGeom>
              <a:avLst/>
              <a:gdLst/>
              <a:ahLst/>
              <a:cxnLst/>
              <a:rect r="r" b="b" t="t" l="l"/>
              <a:pathLst>
                <a:path h="7474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747475"/>
                  </a:lnTo>
                  <a:lnTo>
                    <a:pt x="0" y="747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6498035" cy="861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Utiliz</a:t>
              </a: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ed for real-time detection.</a:t>
              </a:r>
            </a:p>
          </p:txBody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290816" y="2652712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212884" y="3708350"/>
            <a:ext cx="424160" cy="530275"/>
            <a:chOff x="0" y="0"/>
            <a:chExt cx="565547" cy="7070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22237" y="6494264"/>
            <a:ext cx="3721299" cy="652161"/>
            <a:chOff x="0" y="0"/>
            <a:chExt cx="4961732" cy="8695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61732" cy="869548"/>
            </a:xfrm>
            <a:custGeom>
              <a:avLst/>
              <a:gdLst/>
              <a:ahLst/>
              <a:cxnLst/>
              <a:rect r="r" b="b" t="t" l="l"/>
              <a:pathLst>
                <a:path h="869548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69548"/>
                  </a:lnTo>
                  <a:lnTo>
                    <a:pt x="0" y="86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4961732" cy="8981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85"/>
                </a:lnSpc>
              </a:pPr>
              <a:r>
                <a:rPr lang="en-US" sz="38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Deployment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22237" y="7129463"/>
            <a:ext cx="4873526" cy="560606"/>
            <a:chOff x="0" y="0"/>
            <a:chExt cx="6498035" cy="7474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98035" cy="747475"/>
            </a:xfrm>
            <a:custGeom>
              <a:avLst/>
              <a:gdLst/>
              <a:ahLst/>
              <a:cxnLst/>
              <a:rect r="r" b="b" t="t" l="l"/>
              <a:pathLst>
                <a:path h="74747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747475"/>
                  </a:lnTo>
                  <a:lnTo>
                    <a:pt x="0" y="747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6498035" cy="861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Flask API and User Interface</a:t>
              </a: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</a:p>
          </p:txBody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6290816" y="2652712"/>
            <a:ext cx="5706219" cy="5706219"/>
          </a:xfrm>
          <a:custGeom>
            <a:avLst/>
            <a:gdLst/>
            <a:ahLst/>
            <a:cxnLst/>
            <a:rect r="r" b="b" t="t" l="l"/>
            <a:pathLst>
              <a:path h="5706219" w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618166" y="7116067"/>
            <a:ext cx="424160" cy="530275"/>
            <a:chOff x="0" y="0"/>
            <a:chExt cx="565547" cy="7070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5547" cy="707033"/>
            </a:xfrm>
            <a:custGeom>
              <a:avLst/>
              <a:gdLst/>
              <a:ahLst/>
              <a:cxnLst/>
              <a:rect r="r" b="b" t="t" l="l"/>
              <a:pathLst>
                <a:path h="707033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707033"/>
                  </a:lnTo>
                  <a:lnTo>
                    <a:pt x="0" y="707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42875"/>
              <a:ext cx="565547" cy="8499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12"/>
                </a:lnSpc>
              </a:pPr>
              <a:r>
                <a:rPr lang="en-US" sz="3312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9258300"/>
            <a:ext cx="10089261" cy="470676"/>
            <a:chOff x="0" y="0"/>
            <a:chExt cx="13452347" cy="6275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52348" cy="627568"/>
            </a:xfrm>
            <a:custGeom>
              <a:avLst/>
              <a:gdLst/>
              <a:ahLst/>
              <a:cxnLst/>
              <a:rect r="r" b="b" t="t" l="l"/>
              <a:pathLst>
                <a:path h="627568" w="13452348">
                  <a:moveTo>
                    <a:pt x="0" y="0"/>
                  </a:moveTo>
                  <a:lnTo>
                    <a:pt x="13452348" y="0"/>
                  </a:lnTo>
                  <a:lnTo>
                    <a:pt x="13452348" y="627568"/>
                  </a:lnTo>
                  <a:lnTo>
                    <a:pt x="0" y="6275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3452347" cy="7132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YOLOv8 Official Documentation: </a:t>
              </a:r>
              <a:r>
                <a:rPr lang="en-US" sz="21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https://yolov8.org/yolov8-documentation/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7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997035" y="3411591"/>
            <a:ext cx="6112203" cy="652161"/>
            <a:chOff x="0" y="0"/>
            <a:chExt cx="8149603" cy="8695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49603" cy="869548"/>
            </a:xfrm>
            <a:custGeom>
              <a:avLst/>
              <a:gdLst/>
              <a:ahLst/>
              <a:cxnLst/>
              <a:rect r="r" b="b" t="t" l="l"/>
              <a:pathLst>
                <a:path h="869548" w="8149603">
                  <a:moveTo>
                    <a:pt x="0" y="0"/>
                  </a:moveTo>
                  <a:lnTo>
                    <a:pt x="8149603" y="0"/>
                  </a:lnTo>
                  <a:lnTo>
                    <a:pt x="8149603" y="869548"/>
                  </a:lnTo>
                  <a:lnTo>
                    <a:pt x="0" y="869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8149603" cy="8981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85"/>
                </a:lnSpc>
              </a:pPr>
              <a:r>
                <a:rPr lang="en-US" sz="38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Image Processing &amp; YOLOv8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176" y="381762"/>
            <a:ext cx="15338064" cy="1899476"/>
            <a:chOff x="0" y="0"/>
            <a:chExt cx="20450752" cy="2532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0752" cy="2532634"/>
            </a:xfrm>
            <a:custGeom>
              <a:avLst/>
              <a:gdLst/>
              <a:ahLst/>
              <a:cxnLst/>
              <a:rect r="r" b="b" t="t" l="l"/>
              <a:pathLst>
                <a:path h="2532634" w="20450752">
                  <a:moveTo>
                    <a:pt x="0" y="0"/>
                  </a:moveTo>
                  <a:lnTo>
                    <a:pt x="20450752" y="0"/>
                  </a:lnTo>
                  <a:lnTo>
                    <a:pt x="20450752" y="2532634"/>
                  </a:lnTo>
                  <a:lnTo>
                    <a:pt x="0" y="2532634"/>
                  </a:lnTo>
                  <a:close/>
                </a:path>
              </a:pathLst>
            </a:custGeom>
            <a:solidFill>
              <a:srgbClr val="FF3131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50752" cy="25802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CLACHE (Contrast Limited Adaptive Histogram Equalization)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991949"/>
            <a:ext cx="18250815" cy="6491328"/>
          </a:xfrm>
          <a:custGeom>
            <a:avLst/>
            <a:gdLst/>
            <a:ahLst/>
            <a:cxnLst/>
            <a:rect r="r" b="b" t="t" l="l"/>
            <a:pathLst>
              <a:path h="6491328" w="18250815">
                <a:moveTo>
                  <a:pt x="0" y="0"/>
                </a:moveTo>
                <a:lnTo>
                  <a:pt x="18250815" y="0"/>
                </a:lnTo>
                <a:lnTo>
                  <a:pt x="18250815" y="6491328"/>
                </a:lnTo>
                <a:lnTo>
                  <a:pt x="0" y="6491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4" t="0" r="-1124" b="-270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09235" y="2482377"/>
            <a:ext cx="1465042" cy="662539"/>
            <a:chOff x="0" y="0"/>
            <a:chExt cx="1953390" cy="8833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3390" cy="883385"/>
            </a:xfrm>
            <a:custGeom>
              <a:avLst/>
              <a:gdLst/>
              <a:ahLst/>
              <a:cxnLst/>
              <a:rect r="r" b="b" t="t" l="l"/>
              <a:pathLst>
                <a:path h="883385" w="1953390">
                  <a:moveTo>
                    <a:pt x="0" y="0"/>
                  </a:moveTo>
                  <a:lnTo>
                    <a:pt x="1953390" y="0"/>
                  </a:lnTo>
                  <a:lnTo>
                    <a:pt x="1953390" y="883385"/>
                  </a:lnTo>
                  <a:lnTo>
                    <a:pt x="0" y="88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53390" cy="92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Before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83802" y="2482377"/>
            <a:ext cx="1197351" cy="662539"/>
            <a:chOff x="0" y="0"/>
            <a:chExt cx="1596468" cy="8833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6468" cy="883385"/>
            </a:xfrm>
            <a:custGeom>
              <a:avLst/>
              <a:gdLst/>
              <a:ahLst/>
              <a:cxnLst/>
              <a:rect r="r" b="b" t="t" l="l"/>
              <a:pathLst>
                <a:path h="883385" w="1596468">
                  <a:moveTo>
                    <a:pt x="0" y="0"/>
                  </a:moveTo>
                  <a:lnTo>
                    <a:pt x="1596468" y="0"/>
                  </a:lnTo>
                  <a:lnTo>
                    <a:pt x="1596468" y="883385"/>
                  </a:lnTo>
                  <a:lnTo>
                    <a:pt x="0" y="883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96468" cy="92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After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704910" y="7309467"/>
            <a:ext cx="2036330" cy="1602969"/>
          </a:xfrm>
          <a:custGeom>
            <a:avLst/>
            <a:gdLst/>
            <a:ahLst/>
            <a:cxnLst/>
            <a:rect r="r" b="b" t="t" l="l"/>
            <a:pathLst>
              <a:path h="1602969" w="2036330">
                <a:moveTo>
                  <a:pt x="0" y="0"/>
                </a:moveTo>
                <a:lnTo>
                  <a:pt x="2036330" y="0"/>
                </a:lnTo>
                <a:lnTo>
                  <a:pt x="2036330" y="1602969"/>
                </a:lnTo>
                <a:lnTo>
                  <a:pt x="0" y="160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7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080828" y="7309467"/>
            <a:ext cx="2036330" cy="1602969"/>
          </a:xfrm>
          <a:custGeom>
            <a:avLst/>
            <a:gdLst/>
            <a:ahLst/>
            <a:cxnLst/>
            <a:rect r="r" b="b" t="t" l="l"/>
            <a:pathLst>
              <a:path h="1602969" w="2036330">
                <a:moveTo>
                  <a:pt x="0" y="0"/>
                </a:moveTo>
                <a:lnTo>
                  <a:pt x="2036330" y="0"/>
                </a:lnTo>
                <a:lnTo>
                  <a:pt x="2036330" y="1602969"/>
                </a:lnTo>
                <a:lnTo>
                  <a:pt x="0" y="1602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9609604"/>
            <a:ext cx="12830835" cy="1291408"/>
            <a:chOff x="0" y="0"/>
            <a:chExt cx="17107781" cy="17218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07781" cy="1721878"/>
            </a:xfrm>
            <a:custGeom>
              <a:avLst/>
              <a:gdLst/>
              <a:ahLst/>
              <a:cxnLst/>
              <a:rect r="r" b="b" t="t" l="l"/>
              <a:pathLst>
                <a:path h="1721878" w="17107781">
                  <a:moveTo>
                    <a:pt x="0" y="0"/>
                  </a:moveTo>
                  <a:lnTo>
                    <a:pt x="17107781" y="0"/>
                  </a:lnTo>
                  <a:lnTo>
                    <a:pt x="17107781" y="1721878"/>
                  </a:lnTo>
                  <a:lnTo>
                    <a:pt x="0" y="17218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7107781" cy="17504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 marL="750250" indent="-375125" lvl="1">
                <a:lnSpc>
                  <a:spcPts val="4378"/>
                </a:lnSpc>
                <a:buFont typeface="Arial"/>
                <a:buChar char="•"/>
              </a:pPr>
              <a:r>
                <a:rPr lang="en-US" sz="34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Joudet, C. (2018). Deep Learning on Dental X-rays. Medium. </a:t>
              </a:r>
              <a:r>
                <a:rPr lang="en-US" sz="3474" u="sng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  <a:hlinkClick r:id="rId7" tooltip="https://www.canva.com/link?target=https%3A%2F%2Fmedium.com%2F%40clemkoa%2Fdeep-learning-on-dental-x-rays-part-2-fbee8382ffc3&amp;design=DAGjVZyGin8&amp;utl=h651edd731d&amp;accessRole=viewer&amp;linkSource=document"/>
                </a:rPr>
                <a:t>Link</a:t>
              </a:r>
            </a:p>
            <a:p>
              <a:pPr algn="r">
                <a:lnSpc>
                  <a:spcPts val="438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895" y="830358"/>
            <a:ext cx="6067666" cy="1079599"/>
            <a:chOff x="0" y="0"/>
            <a:chExt cx="8090221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90221" cy="1439465"/>
            </a:xfrm>
            <a:custGeom>
              <a:avLst/>
              <a:gdLst/>
              <a:ahLst/>
              <a:cxnLst/>
              <a:rect r="r" b="b" t="t" l="l"/>
              <a:pathLst>
                <a:path h="1439465" w="8090221">
                  <a:moveTo>
                    <a:pt x="0" y="0"/>
                  </a:moveTo>
                  <a:lnTo>
                    <a:pt x="8090221" y="0"/>
                  </a:lnTo>
                  <a:lnTo>
                    <a:pt x="8090221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90221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Training the model</a:t>
              </a:r>
            </a:p>
          </p:txBody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686304" y="2367157"/>
            <a:ext cx="1417587" cy="1701105"/>
          </a:xfrm>
          <a:custGeom>
            <a:avLst/>
            <a:gdLst/>
            <a:ahLst/>
            <a:cxnLst/>
            <a:rect r="r" b="b" t="t" l="l"/>
            <a:pathLst>
              <a:path h="1701105" w="1417587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5" r="0" b="-5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29094" y="2650675"/>
            <a:ext cx="5582454" cy="632259"/>
            <a:chOff x="0" y="0"/>
            <a:chExt cx="7443272" cy="8430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3271" cy="843012"/>
            </a:xfrm>
            <a:custGeom>
              <a:avLst/>
              <a:gdLst/>
              <a:ahLst/>
              <a:cxnLst/>
              <a:rect r="r" b="b" t="t" l="l"/>
              <a:pathLst>
                <a:path h="843012" w="7443271">
                  <a:moveTo>
                    <a:pt x="0" y="0"/>
                  </a:moveTo>
                  <a:lnTo>
                    <a:pt x="7443271" y="0"/>
                  </a:lnTo>
                  <a:lnTo>
                    <a:pt x="7443271" y="843012"/>
                  </a:lnTo>
                  <a:lnTo>
                    <a:pt x="0" y="843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43272" cy="8715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59"/>
                </a:lnSpc>
              </a:pPr>
              <a:r>
                <a:rPr lang="en-US" sz="37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Used Local Machine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29094" y="3252654"/>
            <a:ext cx="7602736" cy="600809"/>
            <a:chOff x="0" y="0"/>
            <a:chExt cx="10136982" cy="8010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36982" cy="801079"/>
            </a:xfrm>
            <a:custGeom>
              <a:avLst/>
              <a:gdLst/>
              <a:ahLst/>
              <a:cxnLst/>
              <a:rect r="r" b="b" t="t" l="l"/>
              <a:pathLst>
                <a:path h="801079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801079"/>
                  </a:lnTo>
                  <a:lnTo>
                    <a:pt x="0" y="801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0136982" cy="9249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72 hours of training moreless.</a:t>
              </a:r>
            </a:p>
          </p:txBody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686304" y="4068263"/>
            <a:ext cx="1417587" cy="1701105"/>
          </a:xfrm>
          <a:custGeom>
            <a:avLst/>
            <a:gdLst/>
            <a:ahLst/>
            <a:cxnLst/>
            <a:rect r="r" b="b" t="t" l="l"/>
            <a:pathLst>
              <a:path h="1701105" w="1417587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5" r="0" b="-55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529094" y="4351781"/>
            <a:ext cx="3721299" cy="632259"/>
            <a:chOff x="0" y="0"/>
            <a:chExt cx="4961732" cy="8430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61732" cy="843012"/>
            </a:xfrm>
            <a:custGeom>
              <a:avLst/>
              <a:gdLst/>
              <a:ahLst/>
              <a:cxnLst/>
              <a:rect r="r" b="b" t="t" l="l"/>
              <a:pathLst>
                <a:path h="843012" w="4961732">
                  <a:moveTo>
                    <a:pt x="0" y="0"/>
                  </a:moveTo>
                  <a:lnTo>
                    <a:pt x="4961732" y="0"/>
                  </a:lnTo>
                  <a:lnTo>
                    <a:pt x="4961732" y="843012"/>
                  </a:lnTo>
                  <a:lnTo>
                    <a:pt x="0" y="843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961732" cy="8715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59"/>
                </a:lnSpc>
              </a:pPr>
              <a:r>
                <a:rPr lang="en-US" sz="37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Early Stopping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29094" y="4986980"/>
            <a:ext cx="7468891" cy="600809"/>
            <a:chOff x="0" y="0"/>
            <a:chExt cx="9958521" cy="8010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58521" cy="801079"/>
            </a:xfrm>
            <a:custGeom>
              <a:avLst/>
              <a:gdLst/>
              <a:ahLst/>
              <a:cxnLst/>
              <a:rect r="r" b="b" t="t" l="l"/>
              <a:pathLst>
                <a:path h="801079" w="9958521">
                  <a:moveTo>
                    <a:pt x="0" y="0"/>
                  </a:moveTo>
                  <a:lnTo>
                    <a:pt x="9958521" y="0"/>
                  </a:lnTo>
                  <a:lnTo>
                    <a:pt x="9958521" y="801079"/>
                  </a:lnTo>
                  <a:lnTo>
                    <a:pt x="0" y="801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9958521" cy="9249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Stopped after 572 epochs.</a:t>
              </a:r>
            </a:p>
          </p:txBody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86304" y="5769368"/>
            <a:ext cx="1417587" cy="1701105"/>
          </a:xfrm>
          <a:custGeom>
            <a:avLst/>
            <a:gdLst/>
            <a:ahLst/>
            <a:cxnLst/>
            <a:rect r="r" b="b" t="t" l="l"/>
            <a:pathLst>
              <a:path h="1701105" w="1417587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5" r="0" b="-55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29094" y="6052886"/>
            <a:ext cx="7602736" cy="632259"/>
            <a:chOff x="0" y="0"/>
            <a:chExt cx="10136982" cy="8430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36981" cy="843012"/>
            </a:xfrm>
            <a:custGeom>
              <a:avLst/>
              <a:gdLst/>
              <a:ahLst/>
              <a:cxnLst/>
              <a:rect r="r" b="b" t="t" l="l"/>
              <a:pathLst>
                <a:path h="843012" w="10136981">
                  <a:moveTo>
                    <a:pt x="0" y="0"/>
                  </a:moveTo>
                  <a:lnTo>
                    <a:pt x="10136981" y="0"/>
                  </a:lnTo>
                  <a:lnTo>
                    <a:pt x="10136981" y="843012"/>
                  </a:lnTo>
                  <a:lnTo>
                    <a:pt x="0" y="843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136982" cy="8715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759"/>
                </a:lnSpc>
              </a:pPr>
              <a:r>
                <a:rPr lang="en-US" sz="37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Saving the Best and the Last models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29094" y="6688085"/>
            <a:ext cx="7602736" cy="600809"/>
            <a:chOff x="0" y="0"/>
            <a:chExt cx="10136982" cy="801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36982" cy="801079"/>
            </a:xfrm>
            <a:custGeom>
              <a:avLst/>
              <a:gdLst/>
              <a:ahLst/>
              <a:cxnLst/>
              <a:rect r="r" b="b" t="t" l="l"/>
              <a:pathLst>
                <a:path h="801079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801079"/>
                  </a:lnTo>
                  <a:lnTo>
                    <a:pt x="0" y="8010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10136982" cy="9249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</a:t>
              </a:r>
              <a:r>
                <a:rPr lang="en-US" sz="27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est.pt at the 561 epoch.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81681" y="2804293"/>
            <a:ext cx="826834" cy="826834"/>
          </a:xfrm>
          <a:custGeom>
            <a:avLst/>
            <a:gdLst/>
            <a:ahLst/>
            <a:cxnLst/>
            <a:rect r="r" b="b" t="t" l="l"/>
            <a:pathLst>
              <a:path h="826834" w="826834">
                <a:moveTo>
                  <a:pt x="0" y="0"/>
                </a:moveTo>
                <a:lnTo>
                  <a:pt x="826834" y="0"/>
                </a:lnTo>
                <a:lnTo>
                  <a:pt x="826834" y="826834"/>
                </a:lnTo>
                <a:lnTo>
                  <a:pt x="0" y="8268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2884" y="4471545"/>
            <a:ext cx="964429" cy="964429"/>
          </a:xfrm>
          <a:custGeom>
            <a:avLst/>
            <a:gdLst/>
            <a:ahLst/>
            <a:cxnLst/>
            <a:rect r="r" b="b" t="t" l="l"/>
            <a:pathLst>
              <a:path h="964429" w="964429">
                <a:moveTo>
                  <a:pt x="0" y="0"/>
                </a:moveTo>
                <a:lnTo>
                  <a:pt x="964429" y="0"/>
                </a:lnTo>
                <a:lnTo>
                  <a:pt x="964429" y="964429"/>
                </a:lnTo>
                <a:lnTo>
                  <a:pt x="0" y="964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73895" y="8167733"/>
            <a:ext cx="17135885" cy="1802129"/>
            <a:chOff x="0" y="0"/>
            <a:chExt cx="22847847" cy="2402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47847" cy="2402838"/>
            </a:xfrm>
            <a:custGeom>
              <a:avLst/>
              <a:gdLst/>
              <a:ahLst/>
              <a:cxnLst/>
              <a:rect r="r" b="b" t="t" l="l"/>
              <a:pathLst>
                <a:path h="2402838" w="22847847">
                  <a:moveTo>
                    <a:pt x="0" y="0"/>
                  </a:moveTo>
                  <a:lnTo>
                    <a:pt x="22847847" y="0"/>
                  </a:lnTo>
                  <a:lnTo>
                    <a:pt x="22847847" y="2402838"/>
                  </a:lnTo>
                  <a:lnTo>
                    <a:pt x="0" y="2402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847847" cy="2440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07"/>
                </a:lnSpc>
              </a:pPr>
              <a:r>
                <a:rPr lang="en-US" sz="35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Early stopping is a regularization technique used to prevent overfitting by stopping the training process once the model's performance starts to degrade.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131831" y="1909957"/>
            <a:ext cx="7690359" cy="5769591"/>
          </a:xfrm>
          <a:custGeom>
            <a:avLst/>
            <a:gdLst/>
            <a:ahLst/>
            <a:cxnLst/>
            <a:rect r="r" b="b" t="t" l="l"/>
            <a:pathLst>
              <a:path h="5769591" w="7690359">
                <a:moveTo>
                  <a:pt x="0" y="0"/>
                </a:moveTo>
                <a:lnTo>
                  <a:pt x="7690359" y="0"/>
                </a:lnTo>
                <a:lnTo>
                  <a:pt x="7690359" y="5769591"/>
                </a:lnTo>
                <a:lnTo>
                  <a:pt x="0" y="57695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330" t="0" r="-3031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62000" y="6353875"/>
            <a:ext cx="915313" cy="665682"/>
          </a:xfrm>
          <a:custGeom>
            <a:avLst/>
            <a:gdLst/>
            <a:ahLst/>
            <a:cxnLst/>
            <a:rect r="r" b="b" t="t" l="l"/>
            <a:pathLst>
              <a:path h="665682" w="915313">
                <a:moveTo>
                  <a:pt x="0" y="0"/>
                </a:moveTo>
                <a:lnTo>
                  <a:pt x="915313" y="0"/>
                </a:lnTo>
                <a:lnTo>
                  <a:pt x="915313" y="665683"/>
                </a:lnTo>
                <a:lnTo>
                  <a:pt x="0" y="665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8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6979874" y="0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6" y="0"/>
                </a:lnTo>
                <a:lnTo>
                  <a:pt x="1308126" y="1286263"/>
                </a:lnTo>
                <a:lnTo>
                  <a:pt x="0" y="1286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63322" y="492404"/>
            <a:ext cx="8705552" cy="931278"/>
            <a:chOff x="0" y="0"/>
            <a:chExt cx="11607403" cy="124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07403" cy="1241704"/>
            </a:xfrm>
            <a:custGeom>
              <a:avLst/>
              <a:gdLst/>
              <a:ahLst/>
              <a:cxnLst/>
              <a:rect r="r" b="b" t="t" l="l"/>
              <a:pathLst>
                <a:path h="1241704" w="11607403">
                  <a:moveTo>
                    <a:pt x="0" y="0"/>
                  </a:moveTo>
                  <a:lnTo>
                    <a:pt x="11607403" y="0"/>
                  </a:lnTo>
                  <a:lnTo>
                    <a:pt x="11607403" y="1241704"/>
                  </a:lnTo>
                  <a:lnTo>
                    <a:pt x="0" y="12417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607403" cy="12798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70016" y="1990498"/>
            <a:ext cx="4441351" cy="694798"/>
            <a:chOff x="0" y="0"/>
            <a:chExt cx="5921802" cy="9263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21802" cy="926398"/>
            </a:xfrm>
            <a:custGeom>
              <a:avLst/>
              <a:gdLst/>
              <a:ahLst/>
              <a:cxnLst/>
              <a:rect r="r" b="b" t="t" l="l"/>
              <a:pathLst>
                <a:path h="926398" w="5921802">
                  <a:moveTo>
                    <a:pt x="0" y="0"/>
                  </a:moveTo>
                  <a:lnTo>
                    <a:pt x="5921802" y="0"/>
                  </a:lnTo>
                  <a:lnTo>
                    <a:pt x="5921802" y="926398"/>
                  </a:lnTo>
                  <a:lnTo>
                    <a:pt x="0" y="9263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921802" cy="954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7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1. Training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724085"/>
            <a:ext cx="11007685" cy="491555"/>
            <a:chOff x="0" y="0"/>
            <a:chExt cx="14676913" cy="6554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76913" cy="655407"/>
            </a:xfrm>
            <a:custGeom>
              <a:avLst/>
              <a:gdLst/>
              <a:ahLst/>
              <a:cxnLst/>
              <a:rect r="r" b="b" t="t" l="l"/>
              <a:pathLst>
                <a:path h="655407" w="14676913">
                  <a:moveTo>
                    <a:pt x="0" y="0"/>
                  </a:moveTo>
                  <a:lnTo>
                    <a:pt x="14676913" y="0"/>
                  </a:lnTo>
                  <a:lnTo>
                    <a:pt x="14676913" y="655407"/>
                  </a:lnTo>
                  <a:lnTo>
                    <a:pt x="0" y="655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4676913" cy="74113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665"/>
                </a:lnSpc>
              </a:pPr>
              <a:r>
                <a:rPr lang="en-US" sz="2299" u="sng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  <a:hlinkClick r:id="rId3" tooltip="https://gitdiagram.com/apodwikat/dental_anomaly_detection_graduationproject"/>
                </a:rPr>
                <a:t>https://gitdiagram.com/apodwikat/dental_anomaly_detection_graduationproject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778" y="199063"/>
            <a:ext cx="7155535" cy="9118034"/>
          </a:xfrm>
          <a:custGeom>
            <a:avLst/>
            <a:gdLst/>
            <a:ahLst/>
            <a:cxnLst/>
            <a:rect r="r" b="b" t="t" l="l"/>
            <a:pathLst>
              <a:path h="9118034" w="7155535">
                <a:moveTo>
                  <a:pt x="0" y="0"/>
                </a:moveTo>
                <a:lnTo>
                  <a:pt x="7155536" y="0"/>
                </a:lnTo>
                <a:lnTo>
                  <a:pt x="7155536" y="9118035"/>
                </a:lnTo>
                <a:lnTo>
                  <a:pt x="0" y="9118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72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681787" y="1885590"/>
            <a:ext cx="3606213" cy="7053329"/>
          </a:xfrm>
          <a:custGeom>
            <a:avLst/>
            <a:gdLst/>
            <a:ahLst/>
            <a:cxnLst/>
            <a:rect r="r" b="b" t="t" l="l"/>
            <a:pathLst>
              <a:path h="7053329" w="3606213">
                <a:moveTo>
                  <a:pt x="0" y="0"/>
                </a:moveTo>
                <a:lnTo>
                  <a:pt x="3606213" y="0"/>
                </a:lnTo>
                <a:lnTo>
                  <a:pt x="3606213" y="7053329"/>
                </a:lnTo>
                <a:lnTo>
                  <a:pt x="0" y="7053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9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333284" y="422562"/>
            <a:ext cx="6765627" cy="1001120"/>
            <a:chOff x="0" y="0"/>
            <a:chExt cx="9020836" cy="13348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20836" cy="1334827"/>
            </a:xfrm>
            <a:custGeom>
              <a:avLst/>
              <a:gdLst/>
              <a:ahLst/>
              <a:cxnLst/>
              <a:rect r="r" b="b" t="t" l="l"/>
              <a:pathLst>
                <a:path h="1334827" w="9020836">
                  <a:moveTo>
                    <a:pt x="0" y="0"/>
                  </a:moveTo>
                  <a:lnTo>
                    <a:pt x="9020836" y="0"/>
                  </a:lnTo>
                  <a:lnTo>
                    <a:pt x="9020836" y="1334827"/>
                  </a:lnTo>
                  <a:lnTo>
                    <a:pt x="0" y="1334827"/>
                  </a:lnTo>
                  <a:close/>
                </a:path>
              </a:pathLst>
            </a:custGeom>
            <a:solidFill>
              <a:srgbClr val="FF3131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020836" cy="13824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438"/>
                </a:lnSpc>
              </a:pPr>
              <a:r>
                <a:rPr lang="en-US" sz="59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Project Architecture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70016" y="3018672"/>
            <a:ext cx="4948316" cy="694798"/>
            <a:chOff x="0" y="0"/>
            <a:chExt cx="6597754" cy="9263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97755" cy="926398"/>
            </a:xfrm>
            <a:custGeom>
              <a:avLst/>
              <a:gdLst/>
              <a:ahLst/>
              <a:cxnLst/>
              <a:rect r="r" b="b" t="t" l="l"/>
              <a:pathLst>
                <a:path h="926398" w="6597755">
                  <a:moveTo>
                    <a:pt x="0" y="0"/>
                  </a:moveTo>
                  <a:lnTo>
                    <a:pt x="6597755" y="0"/>
                  </a:lnTo>
                  <a:lnTo>
                    <a:pt x="6597755" y="926398"/>
                  </a:lnTo>
                  <a:lnTo>
                    <a:pt x="0" y="9263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597754" cy="954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7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2. Web User Interface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70016" y="4044161"/>
            <a:ext cx="4246082" cy="694798"/>
            <a:chOff x="0" y="0"/>
            <a:chExt cx="5661442" cy="9263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61442" cy="926398"/>
            </a:xfrm>
            <a:custGeom>
              <a:avLst/>
              <a:gdLst/>
              <a:ahLst/>
              <a:cxnLst/>
              <a:rect r="r" b="b" t="t" l="l"/>
              <a:pathLst>
                <a:path h="926398" w="5661442">
                  <a:moveTo>
                    <a:pt x="0" y="0"/>
                  </a:moveTo>
                  <a:lnTo>
                    <a:pt x="5661442" y="0"/>
                  </a:lnTo>
                  <a:lnTo>
                    <a:pt x="5661442" y="926398"/>
                  </a:lnTo>
                  <a:lnTo>
                    <a:pt x="0" y="9263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661442" cy="954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7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3. REST API server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70016" y="4915829"/>
            <a:ext cx="7002220" cy="694848"/>
            <a:chOff x="0" y="0"/>
            <a:chExt cx="9336294" cy="9264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36294" cy="926464"/>
            </a:xfrm>
            <a:custGeom>
              <a:avLst/>
              <a:gdLst/>
              <a:ahLst/>
              <a:cxnLst/>
              <a:rect r="r" b="b" t="t" l="l"/>
              <a:pathLst>
                <a:path h="926464" w="9336294">
                  <a:moveTo>
                    <a:pt x="0" y="0"/>
                  </a:moveTo>
                  <a:lnTo>
                    <a:pt x="9336294" y="0"/>
                  </a:lnTo>
                  <a:lnTo>
                    <a:pt x="9336294" y="926464"/>
                  </a:lnTo>
                  <a:lnTo>
                    <a:pt x="0" y="926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336294" cy="9550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6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4. Image Resizing and CLACHE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0016" y="5839943"/>
            <a:ext cx="5095356" cy="694848"/>
            <a:chOff x="0" y="0"/>
            <a:chExt cx="6793808" cy="9264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93808" cy="926464"/>
            </a:xfrm>
            <a:custGeom>
              <a:avLst/>
              <a:gdLst/>
              <a:ahLst/>
              <a:cxnLst/>
              <a:rect r="r" b="b" t="t" l="l"/>
              <a:pathLst>
                <a:path h="926464" w="6793808">
                  <a:moveTo>
                    <a:pt x="0" y="0"/>
                  </a:moveTo>
                  <a:lnTo>
                    <a:pt x="6793808" y="0"/>
                  </a:lnTo>
                  <a:lnTo>
                    <a:pt x="6793808" y="926464"/>
                  </a:lnTo>
                  <a:lnTo>
                    <a:pt x="0" y="926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793808" cy="9550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6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5. Read best.pt weights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63322" y="6764056"/>
            <a:ext cx="4724102" cy="694848"/>
            <a:chOff x="0" y="0"/>
            <a:chExt cx="6298803" cy="926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98803" cy="926464"/>
            </a:xfrm>
            <a:custGeom>
              <a:avLst/>
              <a:gdLst/>
              <a:ahLst/>
              <a:cxnLst/>
              <a:rect r="r" b="b" t="t" l="l"/>
              <a:pathLst>
                <a:path h="926464" w="6298803">
                  <a:moveTo>
                    <a:pt x="0" y="0"/>
                  </a:moveTo>
                  <a:lnTo>
                    <a:pt x="6298803" y="0"/>
                  </a:lnTo>
                  <a:lnTo>
                    <a:pt x="6298803" y="926464"/>
                  </a:lnTo>
                  <a:lnTo>
                    <a:pt x="0" y="9264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6298803" cy="9550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6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6. Detect Anlomalies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255314" y="7596371"/>
            <a:ext cx="7216923" cy="1342548"/>
            <a:chOff x="0" y="0"/>
            <a:chExt cx="9622564" cy="1790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22564" cy="1790064"/>
            </a:xfrm>
            <a:custGeom>
              <a:avLst/>
              <a:gdLst/>
              <a:ahLst/>
              <a:cxnLst/>
              <a:rect r="r" b="b" t="t" l="l"/>
              <a:pathLst>
                <a:path h="1790064" w="9622564">
                  <a:moveTo>
                    <a:pt x="0" y="0"/>
                  </a:moveTo>
                  <a:lnTo>
                    <a:pt x="9622564" y="0"/>
                  </a:lnTo>
                  <a:lnTo>
                    <a:pt x="9622564" y="1790064"/>
                  </a:lnTo>
                  <a:lnTo>
                    <a:pt x="0" y="17900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622564" cy="18186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5106"/>
                </a:lnSpc>
              </a:pPr>
              <a:r>
                <a:rPr lang="en-US" sz="412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7. Response to UI through REST API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5214" y="3120384"/>
            <a:ext cx="10116442" cy="812673"/>
            <a:chOff x="0" y="0"/>
            <a:chExt cx="13488590" cy="1083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88591" cy="1083564"/>
            </a:xfrm>
            <a:custGeom>
              <a:avLst/>
              <a:gdLst/>
              <a:ahLst/>
              <a:cxnLst/>
              <a:rect r="r" b="b" t="t" l="l"/>
              <a:pathLst>
                <a:path h="1083564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1083564"/>
                  </a:lnTo>
                  <a:lnTo>
                    <a:pt x="0" y="1083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3488590" cy="9978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874"/>
                </a:lnSpc>
              </a:pPr>
              <a:r>
                <a:rPr lang="en-US" sz="4875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95.3%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1454" y="3815857"/>
            <a:ext cx="2463105" cy="557666"/>
            <a:chOff x="0" y="0"/>
            <a:chExt cx="3284140" cy="7435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4140" cy="743554"/>
            </a:xfrm>
            <a:custGeom>
              <a:avLst/>
              <a:gdLst/>
              <a:ahLst/>
              <a:cxnLst/>
              <a:rect r="r" b="b" t="t" l="l"/>
              <a:pathLst>
                <a:path h="743554" w="3284140">
                  <a:moveTo>
                    <a:pt x="0" y="0"/>
                  </a:moveTo>
                  <a:lnTo>
                    <a:pt x="3284140" y="0"/>
                  </a:lnTo>
                  <a:lnTo>
                    <a:pt x="3284140" y="743554"/>
                  </a:lnTo>
                  <a:lnTo>
                    <a:pt x="0" y="743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284140" cy="75307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1"/>
                </a:lnSpc>
              </a:pPr>
              <a:r>
                <a:rPr lang="en-US" sz="333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845577" y="4373523"/>
            <a:ext cx="10116442" cy="395434"/>
            <a:chOff x="0" y="0"/>
            <a:chExt cx="13488590" cy="527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88591" cy="527245"/>
            </a:xfrm>
            <a:custGeom>
              <a:avLst/>
              <a:gdLst/>
              <a:ahLst/>
              <a:cxnLst/>
              <a:rect r="r" b="b" t="t" l="l"/>
              <a:pathLst>
                <a:path h="527245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527245"/>
                  </a:lnTo>
                  <a:lnTo>
                    <a:pt x="0" y="52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3488590" cy="6034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55"/>
                </a:lnSpc>
              </a:pPr>
              <a:r>
                <a:rPr lang="en-US" sz="18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Mean Average Precision.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005214" y="5654313"/>
            <a:ext cx="10116442" cy="812673"/>
            <a:chOff x="0" y="0"/>
            <a:chExt cx="13488590" cy="10835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88591" cy="1083564"/>
            </a:xfrm>
            <a:custGeom>
              <a:avLst/>
              <a:gdLst/>
              <a:ahLst/>
              <a:cxnLst/>
              <a:rect r="r" b="b" t="t" l="l"/>
              <a:pathLst>
                <a:path h="1083564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1083564"/>
                  </a:lnTo>
                  <a:lnTo>
                    <a:pt x="0" y="1083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3488590" cy="9978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874"/>
                </a:lnSpc>
              </a:pPr>
              <a:r>
                <a:rPr lang="en-US" sz="4875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96.7%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1454" y="6358455"/>
            <a:ext cx="2463105" cy="557666"/>
            <a:chOff x="0" y="0"/>
            <a:chExt cx="3284140" cy="7435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4140" cy="743554"/>
            </a:xfrm>
            <a:custGeom>
              <a:avLst/>
              <a:gdLst/>
              <a:ahLst/>
              <a:cxnLst/>
              <a:rect r="r" b="b" t="t" l="l"/>
              <a:pathLst>
                <a:path h="743554" w="3284140">
                  <a:moveTo>
                    <a:pt x="0" y="0"/>
                  </a:moveTo>
                  <a:lnTo>
                    <a:pt x="3284140" y="0"/>
                  </a:lnTo>
                  <a:lnTo>
                    <a:pt x="3284140" y="743554"/>
                  </a:lnTo>
                  <a:lnTo>
                    <a:pt x="0" y="743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284140" cy="75307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1"/>
                </a:lnSpc>
              </a:pPr>
              <a:r>
                <a:rPr lang="en-US" sz="333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Precision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2845577" y="6916121"/>
            <a:ext cx="10116442" cy="395434"/>
            <a:chOff x="0" y="0"/>
            <a:chExt cx="13488590" cy="527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88591" cy="527245"/>
            </a:xfrm>
            <a:custGeom>
              <a:avLst/>
              <a:gdLst/>
              <a:ahLst/>
              <a:cxnLst/>
              <a:rect r="r" b="b" t="t" l="l"/>
              <a:pathLst>
                <a:path h="527245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527245"/>
                  </a:lnTo>
                  <a:lnTo>
                    <a:pt x="0" y="52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3488590" cy="6034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55"/>
                </a:lnSpc>
              </a:pPr>
              <a:r>
                <a:rPr lang="en-US" sz="18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Accuracy of positive predictions.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3005214" y="8040284"/>
            <a:ext cx="10116442" cy="812673"/>
            <a:chOff x="0" y="0"/>
            <a:chExt cx="13488590" cy="10835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88591" cy="1083564"/>
            </a:xfrm>
            <a:custGeom>
              <a:avLst/>
              <a:gdLst/>
              <a:ahLst/>
              <a:cxnLst/>
              <a:rect r="r" b="b" t="t" l="l"/>
              <a:pathLst>
                <a:path h="1083564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1083564"/>
                  </a:lnTo>
                  <a:lnTo>
                    <a:pt x="0" y="1083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13488590" cy="9978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874"/>
                </a:lnSpc>
              </a:pPr>
              <a:r>
                <a:rPr lang="en-US" sz="4875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93.3%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1454" y="8731316"/>
            <a:ext cx="2463105" cy="557666"/>
            <a:chOff x="0" y="0"/>
            <a:chExt cx="3284140" cy="7435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84140" cy="743554"/>
            </a:xfrm>
            <a:custGeom>
              <a:avLst/>
              <a:gdLst/>
              <a:ahLst/>
              <a:cxnLst/>
              <a:rect r="r" b="b" t="t" l="l"/>
              <a:pathLst>
                <a:path h="743554" w="3284140">
                  <a:moveTo>
                    <a:pt x="0" y="0"/>
                  </a:moveTo>
                  <a:lnTo>
                    <a:pt x="3284140" y="0"/>
                  </a:lnTo>
                  <a:lnTo>
                    <a:pt x="3284140" y="743554"/>
                  </a:lnTo>
                  <a:lnTo>
                    <a:pt x="0" y="743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84140" cy="75307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091"/>
                </a:lnSpc>
              </a:pPr>
              <a:r>
                <a:rPr lang="en-US" sz="3337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Recall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2845577" y="9288982"/>
            <a:ext cx="10116442" cy="395434"/>
            <a:chOff x="0" y="0"/>
            <a:chExt cx="13488590" cy="5272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88591" cy="527245"/>
            </a:xfrm>
            <a:custGeom>
              <a:avLst/>
              <a:gdLst/>
              <a:ahLst/>
              <a:cxnLst/>
              <a:rect r="r" b="b" t="t" l="l"/>
              <a:pathLst>
                <a:path h="527245" w="13488591">
                  <a:moveTo>
                    <a:pt x="0" y="0"/>
                  </a:moveTo>
                  <a:lnTo>
                    <a:pt x="13488591" y="0"/>
                  </a:lnTo>
                  <a:lnTo>
                    <a:pt x="13488591" y="527245"/>
                  </a:lnTo>
                  <a:lnTo>
                    <a:pt x="0" y="52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3488590" cy="6034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55"/>
                </a:lnSpc>
              </a:pPr>
              <a:r>
                <a:rPr lang="en-US" sz="183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Ability to find all relevant cases.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5001656" y="3893494"/>
            <a:ext cx="9639139" cy="6361815"/>
          </a:xfrm>
          <a:custGeom>
            <a:avLst/>
            <a:gdLst/>
            <a:ahLst/>
            <a:cxnLst/>
            <a:rect r="r" b="b" t="t" l="l"/>
            <a:pathLst>
              <a:path h="6361815" w="9639139">
                <a:moveTo>
                  <a:pt x="0" y="0"/>
                </a:moveTo>
                <a:lnTo>
                  <a:pt x="9639139" y="0"/>
                </a:lnTo>
                <a:lnTo>
                  <a:pt x="9639139" y="6361814"/>
                </a:lnTo>
                <a:lnTo>
                  <a:pt x="0" y="6361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06" r="0" b="-80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10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155737" y="24623"/>
            <a:ext cx="4542037" cy="4299013"/>
          </a:xfrm>
          <a:custGeom>
            <a:avLst/>
            <a:gdLst/>
            <a:ahLst/>
            <a:cxnLst/>
            <a:rect r="r" b="b" t="t" l="l"/>
            <a:pathLst>
              <a:path h="4299013" w="4542037">
                <a:moveTo>
                  <a:pt x="0" y="0"/>
                </a:moveTo>
                <a:lnTo>
                  <a:pt x="4542037" y="0"/>
                </a:lnTo>
                <a:lnTo>
                  <a:pt x="4542037" y="4299013"/>
                </a:lnTo>
                <a:lnTo>
                  <a:pt x="0" y="4299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0">
            <a:off x="307572" y="540925"/>
            <a:ext cx="6765627" cy="975550"/>
            <a:chOff x="0" y="0"/>
            <a:chExt cx="9020836" cy="13007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0836" cy="1300734"/>
            </a:xfrm>
            <a:custGeom>
              <a:avLst/>
              <a:gdLst/>
              <a:ahLst/>
              <a:cxnLst/>
              <a:rect r="r" b="b" t="t" l="l"/>
              <a:pathLst>
                <a:path h="1300734" w="9020836">
                  <a:moveTo>
                    <a:pt x="0" y="0"/>
                  </a:moveTo>
                  <a:lnTo>
                    <a:pt x="9020836" y="0"/>
                  </a:lnTo>
                  <a:lnTo>
                    <a:pt x="9020836" y="1300734"/>
                  </a:lnTo>
                  <a:lnTo>
                    <a:pt x="0" y="1300734"/>
                  </a:lnTo>
                  <a:close/>
                </a:path>
              </a:pathLst>
            </a:custGeom>
            <a:solidFill>
              <a:srgbClr val="FF3131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020836" cy="13483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P</a:t>
              </a: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erformance Metrics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337269" y="1830281"/>
            <a:ext cx="6933596" cy="612356"/>
            <a:chOff x="0" y="0"/>
            <a:chExt cx="9244795" cy="8164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44795" cy="816475"/>
            </a:xfrm>
            <a:custGeom>
              <a:avLst/>
              <a:gdLst/>
              <a:ahLst/>
              <a:cxnLst/>
              <a:rect r="r" b="b" t="t" l="l"/>
              <a:pathLst>
                <a:path h="816475" w="9244795">
                  <a:moveTo>
                    <a:pt x="0" y="0"/>
                  </a:moveTo>
                  <a:lnTo>
                    <a:pt x="9244795" y="0"/>
                  </a:lnTo>
                  <a:lnTo>
                    <a:pt x="9244795" y="816475"/>
                  </a:lnTo>
                  <a:lnTo>
                    <a:pt x="0" y="8164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244795" cy="854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633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Accuracy Vs. Number of instances: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04" y="626269"/>
            <a:ext cx="9942668" cy="1079599"/>
            <a:chOff x="0" y="0"/>
            <a:chExt cx="13256890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56890" cy="1439465"/>
            </a:xfrm>
            <a:custGeom>
              <a:avLst/>
              <a:gdLst/>
              <a:ahLst/>
              <a:cxnLst/>
              <a:rect r="r" b="b" t="t" l="l"/>
              <a:pathLst>
                <a:path h="1439465" w="13256890">
                  <a:moveTo>
                    <a:pt x="0" y="0"/>
                  </a:moveTo>
                  <a:lnTo>
                    <a:pt x="13256890" y="0"/>
                  </a:lnTo>
                  <a:lnTo>
                    <a:pt x="13256890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256890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What about the Business side?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6304" y="1885635"/>
            <a:ext cx="17253171" cy="1399927"/>
            <a:chOff x="0" y="0"/>
            <a:chExt cx="23004228" cy="1866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04228" cy="1866569"/>
            </a:xfrm>
            <a:custGeom>
              <a:avLst/>
              <a:gdLst/>
              <a:ahLst/>
              <a:cxnLst/>
              <a:rect r="r" b="b" t="t" l="l"/>
              <a:pathLst>
                <a:path h="1866569" w="23004228">
                  <a:moveTo>
                    <a:pt x="0" y="0"/>
                  </a:moveTo>
                  <a:lnTo>
                    <a:pt x="23004228" y="0"/>
                  </a:lnTo>
                  <a:lnTo>
                    <a:pt x="23004228" y="1866569"/>
                  </a:lnTo>
                  <a:lnTo>
                    <a:pt x="0" y="18665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004228" cy="190466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33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The System might be sold as monthly/yearly subscribtion for clinics so the clinic can immediately use the system right after taking the X-ray image from patient.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79874" y="0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6" y="0"/>
                </a:lnTo>
                <a:lnTo>
                  <a:pt x="1308126" y="1286263"/>
                </a:lnTo>
                <a:lnTo>
                  <a:pt x="0" y="128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95466" y="7306272"/>
            <a:ext cx="6263307" cy="2769269"/>
          </a:xfrm>
          <a:custGeom>
            <a:avLst/>
            <a:gdLst/>
            <a:ahLst/>
            <a:cxnLst/>
            <a:rect r="r" b="b" t="t" l="l"/>
            <a:pathLst>
              <a:path h="2769269" w="6263307">
                <a:moveTo>
                  <a:pt x="0" y="0"/>
                </a:moveTo>
                <a:lnTo>
                  <a:pt x="6263307" y="0"/>
                </a:lnTo>
                <a:lnTo>
                  <a:pt x="6263307" y="2769269"/>
                </a:lnTo>
                <a:lnTo>
                  <a:pt x="0" y="276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524" y="3773270"/>
            <a:ext cx="5268653" cy="3296030"/>
          </a:xfrm>
          <a:custGeom>
            <a:avLst/>
            <a:gdLst/>
            <a:ahLst/>
            <a:cxnLst/>
            <a:rect r="r" b="b" t="t" l="l"/>
            <a:pathLst>
              <a:path h="3296030" w="5268653">
                <a:moveTo>
                  <a:pt x="0" y="0"/>
                </a:moveTo>
                <a:lnTo>
                  <a:pt x="5268654" y="0"/>
                </a:lnTo>
                <a:lnTo>
                  <a:pt x="5268654" y="3296030"/>
                </a:lnTo>
                <a:lnTo>
                  <a:pt x="0" y="32960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09016" y="3285562"/>
            <a:ext cx="6830460" cy="3927233"/>
          </a:xfrm>
          <a:custGeom>
            <a:avLst/>
            <a:gdLst/>
            <a:ahLst/>
            <a:cxnLst/>
            <a:rect r="r" b="b" t="t" l="l"/>
            <a:pathLst>
              <a:path h="3927233" w="6830460">
                <a:moveTo>
                  <a:pt x="0" y="0"/>
                </a:moveTo>
                <a:lnTo>
                  <a:pt x="6830460" y="0"/>
                </a:lnTo>
                <a:lnTo>
                  <a:pt x="6830460" y="3927233"/>
                </a:lnTo>
                <a:lnTo>
                  <a:pt x="0" y="3927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2188074">
            <a:off x="5751153" y="6441837"/>
            <a:ext cx="730459" cy="7304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7252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17475"/>
              <a:ext cx="7112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11</a:t>
            </a:r>
          </a:p>
        </p:txBody>
      </p:sp>
      <p:grpSp>
        <p:nvGrpSpPr>
          <p:cNvPr name="Group 16" id="16"/>
          <p:cNvGrpSpPr/>
          <p:nvPr/>
        </p:nvGrpSpPr>
        <p:grpSpPr>
          <a:xfrm rot="-1922869">
            <a:off x="10240415" y="6434412"/>
            <a:ext cx="730459" cy="7304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27252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17475"/>
              <a:ext cx="7112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04" y="626269"/>
            <a:ext cx="10210359" cy="1079599"/>
            <a:chOff x="0" y="0"/>
            <a:chExt cx="13613812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3812" cy="1439465"/>
            </a:xfrm>
            <a:custGeom>
              <a:avLst/>
              <a:gdLst/>
              <a:ahLst/>
              <a:cxnLst/>
              <a:rect r="r" b="b" t="t" l="l"/>
              <a:pathLst>
                <a:path h="1439465" w="13613812">
                  <a:moveTo>
                    <a:pt x="0" y="0"/>
                  </a:moveTo>
                  <a:lnTo>
                    <a:pt x="13613812" y="0"/>
                  </a:lnTo>
                  <a:lnTo>
                    <a:pt x="13613812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613812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How about Ethical Perspective 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12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979874" y="0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6" y="0"/>
                </a:lnTo>
                <a:lnTo>
                  <a:pt x="1308126" y="1286263"/>
                </a:lnTo>
                <a:lnTo>
                  <a:pt x="0" y="128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61483" y="3445725"/>
            <a:ext cx="9085228" cy="4517954"/>
          </a:xfrm>
          <a:custGeom>
            <a:avLst/>
            <a:gdLst/>
            <a:ahLst/>
            <a:cxnLst/>
            <a:rect r="r" b="b" t="t" l="l"/>
            <a:pathLst>
              <a:path h="4517954" w="9085228">
                <a:moveTo>
                  <a:pt x="0" y="0"/>
                </a:moveTo>
                <a:lnTo>
                  <a:pt x="9085228" y="0"/>
                </a:lnTo>
                <a:lnTo>
                  <a:pt x="9085228" y="4517954"/>
                </a:lnTo>
                <a:lnTo>
                  <a:pt x="0" y="4517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94" t="-423" r="-449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6304" y="2162283"/>
            <a:ext cx="17160407" cy="3234721"/>
            <a:chOff x="0" y="0"/>
            <a:chExt cx="22880542" cy="43129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80541" cy="4312961"/>
            </a:xfrm>
            <a:custGeom>
              <a:avLst/>
              <a:gdLst/>
              <a:ahLst/>
              <a:cxnLst/>
              <a:rect r="r" b="b" t="t" l="l"/>
              <a:pathLst>
                <a:path h="4312961" w="22880541">
                  <a:moveTo>
                    <a:pt x="0" y="0"/>
                  </a:moveTo>
                  <a:lnTo>
                    <a:pt x="22880541" y="0"/>
                  </a:lnTo>
                  <a:lnTo>
                    <a:pt x="22880541" y="4312961"/>
                  </a:lnTo>
                  <a:lnTo>
                    <a:pt x="0" y="43129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80542" cy="43510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08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The AI algorithm has the potential to perform even better than humans which needs:</a:t>
              </a:r>
            </a:p>
            <a:p>
              <a:pPr algn="l">
                <a:lnSpc>
                  <a:spcPts val="5008"/>
                </a:lnSpc>
              </a:pPr>
            </a:p>
            <a:p>
              <a:pPr algn="l">
                <a:lnSpc>
                  <a:spcPts val="5008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1)</a:t>
              </a: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 Big data collection.</a:t>
              </a:r>
            </a:p>
            <a:p>
              <a:pPr algn="l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2) Quality of labeling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304" y="6112267"/>
            <a:ext cx="8075179" cy="1266081"/>
            <a:chOff x="0" y="0"/>
            <a:chExt cx="10766905" cy="16881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6905" cy="1688108"/>
            </a:xfrm>
            <a:custGeom>
              <a:avLst/>
              <a:gdLst/>
              <a:ahLst/>
              <a:cxnLst/>
              <a:rect r="r" b="b" t="t" l="l"/>
              <a:pathLst>
                <a:path h="1688108" w="10766905">
                  <a:moveTo>
                    <a:pt x="0" y="0"/>
                  </a:moveTo>
                  <a:lnTo>
                    <a:pt x="10766905" y="0"/>
                  </a:lnTo>
                  <a:lnTo>
                    <a:pt x="10766905" y="1688108"/>
                  </a:lnTo>
                  <a:lnTo>
                    <a:pt x="0" y="1688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766905" cy="17262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33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The system firstly will be considered as an assistant for the doctor.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304" y="8227154"/>
            <a:ext cx="17160407" cy="1193787"/>
            <a:chOff x="0" y="0"/>
            <a:chExt cx="22880542" cy="15917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0541" cy="1591716"/>
            </a:xfrm>
            <a:custGeom>
              <a:avLst/>
              <a:gdLst/>
              <a:ahLst/>
              <a:cxnLst/>
              <a:rect r="r" b="b" t="t" l="l"/>
              <a:pathLst>
                <a:path h="1591716" w="22880541">
                  <a:moveTo>
                    <a:pt x="0" y="0"/>
                  </a:moveTo>
                  <a:lnTo>
                    <a:pt x="22880541" y="0"/>
                  </a:lnTo>
                  <a:lnTo>
                    <a:pt x="22880541" y="1591716"/>
                  </a:lnTo>
                  <a:lnTo>
                    <a:pt x="0" y="15917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80542" cy="1629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30"/>
                </a:lnSpc>
              </a:pPr>
              <a:r>
                <a:rPr lang="en-US" sz="36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EU Certifications already exists and some companies in market like Pearl which is raised $69.25M and is backed by investors like the American Dental Association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304" y="626269"/>
            <a:ext cx="10210359" cy="1079599"/>
            <a:chOff x="0" y="0"/>
            <a:chExt cx="13613812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3812" cy="1439465"/>
            </a:xfrm>
            <a:custGeom>
              <a:avLst/>
              <a:gdLst/>
              <a:ahLst/>
              <a:cxnLst/>
              <a:rect r="r" b="b" t="t" l="l"/>
              <a:pathLst>
                <a:path h="1439465" w="13613812">
                  <a:moveTo>
                    <a:pt x="0" y="0"/>
                  </a:moveTo>
                  <a:lnTo>
                    <a:pt x="13613812" y="0"/>
                  </a:lnTo>
                  <a:lnTo>
                    <a:pt x="13613812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613812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Future Work...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79874" y="0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6" y="0"/>
                </a:lnTo>
                <a:lnTo>
                  <a:pt x="1308126" y="1286263"/>
                </a:lnTo>
                <a:lnTo>
                  <a:pt x="0" y="1286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6304" y="2353491"/>
            <a:ext cx="8457696" cy="1919839"/>
            <a:chOff x="0" y="0"/>
            <a:chExt cx="11276927" cy="25597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76927" cy="2559785"/>
            </a:xfrm>
            <a:custGeom>
              <a:avLst/>
              <a:gdLst/>
              <a:ahLst/>
              <a:cxnLst/>
              <a:rect r="r" b="b" t="t" l="l"/>
              <a:pathLst>
                <a:path h="2559785" w="11276927">
                  <a:moveTo>
                    <a:pt x="0" y="0"/>
                  </a:moveTo>
                  <a:lnTo>
                    <a:pt x="11276927" y="0"/>
                  </a:lnTo>
                  <a:lnTo>
                    <a:pt x="11276927" y="2559785"/>
                  </a:lnTo>
                  <a:lnTo>
                    <a:pt x="0" y="25597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76927" cy="25978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In Summary, The system needs a Research which by estimation can be done in one year.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9530" y="8393227"/>
            <a:ext cx="17160407" cy="1291189"/>
            <a:chOff x="0" y="0"/>
            <a:chExt cx="22880542" cy="17215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80541" cy="1721585"/>
            </a:xfrm>
            <a:custGeom>
              <a:avLst/>
              <a:gdLst/>
              <a:ahLst/>
              <a:cxnLst/>
              <a:rect r="r" b="b" t="t" l="l"/>
              <a:pathLst>
                <a:path h="1721585" w="22880541">
                  <a:moveTo>
                    <a:pt x="0" y="0"/>
                  </a:moveTo>
                  <a:lnTo>
                    <a:pt x="22880541" y="0"/>
                  </a:lnTo>
                  <a:lnTo>
                    <a:pt x="22880541" y="1721585"/>
                  </a:lnTo>
                  <a:lnTo>
                    <a:pt x="0" y="17215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880542" cy="17596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AI can be enhanced to provide a health report using LLM explaining the issues in human language.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87833" y="1422838"/>
            <a:ext cx="8721225" cy="6833814"/>
          </a:xfrm>
          <a:custGeom>
            <a:avLst/>
            <a:gdLst/>
            <a:ahLst/>
            <a:cxnLst/>
            <a:rect r="r" b="b" t="t" l="l"/>
            <a:pathLst>
              <a:path h="6833814" w="8721225">
                <a:moveTo>
                  <a:pt x="0" y="0"/>
                </a:moveTo>
                <a:lnTo>
                  <a:pt x="8721225" y="0"/>
                </a:lnTo>
                <a:lnTo>
                  <a:pt x="8721225" y="6833814"/>
                </a:lnTo>
                <a:lnTo>
                  <a:pt x="0" y="6833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2" t="-2085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86304" y="4921030"/>
            <a:ext cx="8457696" cy="2548489"/>
            <a:chOff x="0" y="0"/>
            <a:chExt cx="11276927" cy="33979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76927" cy="3397985"/>
            </a:xfrm>
            <a:custGeom>
              <a:avLst/>
              <a:gdLst/>
              <a:ahLst/>
              <a:cxnLst/>
              <a:rect r="r" b="b" t="t" l="l"/>
              <a:pathLst>
                <a:path h="3397985" w="11276927">
                  <a:moveTo>
                    <a:pt x="0" y="0"/>
                  </a:moveTo>
                  <a:lnTo>
                    <a:pt x="11276927" y="0"/>
                  </a:lnTo>
                  <a:lnTo>
                    <a:pt x="11276927" y="3397985"/>
                  </a:lnTo>
                  <a:lnTo>
                    <a:pt x="0" y="3397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276927" cy="34360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11"/>
                </a:lnSpc>
              </a:pPr>
              <a:r>
                <a:rPr lang="en-US" sz="3974">
                  <a:solidFill>
                    <a:srgbClr val="272525"/>
                  </a:solidFill>
                  <a:latin typeface="Petrona"/>
                  <a:ea typeface="Petrona"/>
                  <a:cs typeface="Petrona"/>
                  <a:sym typeface="Petrona"/>
                </a:rPr>
                <a:t>Requires a team of healthcare professioanlists and Data Scientists in order to deliver a market ready product.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4946"/>
            <a:ext cx="5984658" cy="1079599"/>
            <a:chOff x="0" y="0"/>
            <a:chExt cx="7979544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79545" cy="1439465"/>
            </a:xfrm>
            <a:custGeom>
              <a:avLst/>
              <a:gdLst/>
              <a:ahLst/>
              <a:cxnLst/>
              <a:rect r="r" b="b" t="t" l="l"/>
              <a:pathLst>
                <a:path h="1439465" w="7979545">
                  <a:moveTo>
                    <a:pt x="0" y="0"/>
                  </a:moveTo>
                  <a:lnTo>
                    <a:pt x="7979545" y="0"/>
                  </a:lnTo>
                  <a:lnTo>
                    <a:pt x="7979545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979544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Ack</a:t>
              </a: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nowledgement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339036" y="8180148"/>
            <a:ext cx="7609928" cy="1096068"/>
            <a:chOff x="0" y="0"/>
            <a:chExt cx="10146570" cy="1461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46571" cy="1461423"/>
            </a:xfrm>
            <a:custGeom>
              <a:avLst/>
              <a:gdLst/>
              <a:ahLst/>
              <a:cxnLst/>
              <a:rect r="r" b="b" t="t" l="l"/>
              <a:pathLst>
                <a:path h="1461423" w="10146571">
                  <a:moveTo>
                    <a:pt x="0" y="0"/>
                  </a:moveTo>
                  <a:lnTo>
                    <a:pt x="10146571" y="0"/>
                  </a:lnTo>
                  <a:lnTo>
                    <a:pt x="10146571" y="1461423"/>
                  </a:lnTo>
                  <a:lnTo>
                    <a:pt x="0" y="14614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46570" cy="15090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193"/>
                </a:lnSpc>
              </a:pPr>
              <a:r>
                <a:rPr lang="en-US" sz="65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Thanks f</a:t>
              </a:r>
              <a:r>
                <a:rPr lang="en-US" sz="65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or listening!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608896"/>
            <a:ext cx="17222115" cy="7055580"/>
            <a:chOff x="0" y="0"/>
            <a:chExt cx="22962820" cy="940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62820" cy="9407441"/>
            </a:xfrm>
            <a:custGeom>
              <a:avLst/>
              <a:gdLst/>
              <a:ahLst/>
              <a:cxnLst/>
              <a:rect r="r" b="b" t="t" l="l"/>
              <a:pathLst>
                <a:path h="9407441" w="22962820">
                  <a:moveTo>
                    <a:pt x="0" y="0"/>
                  </a:moveTo>
                  <a:lnTo>
                    <a:pt x="22962820" y="0"/>
                  </a:lnTo>
                  <a:lnTo>
                    <a:pt x="22962820" y="9407441"/>
                  </a:lnTo>
                  <a:lnTo>
                    <a:pt x="0" y="94074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962820" cy="94455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866308" indent="-433154" lvl="1">
                <a:lnSpc>
                  <a:spcPts val="5047"/>
                </a:lnSpc>
                <a:buFont typeface="Arial"/>
                <a:buChar char="•"/>
              </a:pP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First and foremost, The Family Support &amp; Encouragement</a:t>
              </a:r>
            </a:p>
            <a:p>
              <a:pPr algn="l">
                <a:lnSpc>
                  <a:spcPts val="5047"/>
                </a:lnSpc>
              </a:pPr>
            </a:p>
            <a:p>
              <a:pPr algn="l" marL="866308" indent="-433154" lvl="1">
                <a:lnSpc>
                  <a:spcPts val="5047"/>
                </a:lnSpc>
                <a:buFont typeface="Arial"/>
                <a:buChar char="•"/>
              </a:pP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Advisor Prof. Rafet Akde</a:t>
              </a: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niz, Co-advisor Prof. Dilara Arslan, and Dr. Roa’a Mohammedqasem.</a:t>
              </a:r>
            </a:p>
            <a:p>
              <a:pPr algn="l">
                <a:lnSpc>
                  <a:spcPts val="5047"/>
                </a:lnSpc>
              </a:pPr>
            </a:p>
            <a:p>
              <a:pPr algn="l" marL="866308" indent="-433154" lvl="1">
                <a:lnSpc>
                  <a:spcPts val="5047"/>
                </a:lnSpc>
                <a:buFont typeface="Arial"/>
                <a:buChar char="•"/>
              </a:pP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Radiology Support by Mühübe Yıldırım.</a:t>
              </a:r>
            </a:p>
            <a:p>
              <a:pPr algn="l">
                <a:lnSpc>
                  <a:spcPts val="5047"/>
                </a:lnSpc>
              </a:pPr>
            </a:p>
            <a:p>
              <a:pPr algn="l" marL="866308" indent="-433154" lvl="1">
                <a:lnSpc>
                  <a:spcPts val="5047"/>
                </a:lnSpc>
                <a:buFont typeface="Arial"/>
                <a:buChar char="•"/>
              </a:pP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Gratitude to Professors &amp; Teachers (IAU, Trento UNITN, Hungary NJE).</a:t>
              </a:r>
            </a:p>
            <a:p>
              <a:pPr algn="l">
                <a:lnSpc>
                  <a:spcPts val="5047"/>
                </a:lnSpc>
              </a:pPr>
            </a:p>
            <a:p>
              <a:pPr algn="l" marL="866308" indent="-433154" lvl="1">
                <a:lnSpc>
                  <a:spcPts val="5047"/>
                </a:lnSpc>
                <a:buFont typeface="Arial"/>
                <a:buChar char="•"/>
              </a:pPr>
              <a:r>
                <a:rPr lang="en-US" sz="40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Appreciation for All Supporters &amp; Motivating Friends.</a:t>
              </a:r>
            </a:p>
            <a:p>
              <a:pPr algn="l">
                <a:lnSpc>
                  <a:spcPts val="504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97383" y="9414516"/>
            <a:ext cx="4493234" cy="539799"/>
            <a:chOff x="0" y="0"/>
            <a:chExt cx="5990979" cy="719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90980" cy="719733"/>
            </a:xfrm>
            <a:custGeom>
              <a:avLst/>
              <a:gdLst/>
              <a:ahLst/>
              <a:cxnLst/>
              <a:rect r="r" b="b" t="t" l="l"/>
              <a:pathLst>
                <a:path h="719733" w="5990980">
                  <a:moveTo>
                    <a:pt x="0" y="0"/>
                  </a:moveTo>
                  <a:lnTo>
                    <a:pt x="5990980" y="0"/>
                  </a:lnTo>
                  <a:lnTo>
                    <a:pt x="5990980" y="719733"/>
                  </a:lnTo>
                  <a:lnTo>
                    <a:pt x="0" y="719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990979" cy="7483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41"/>
                </a:lnSpc>
              </a:pPr>
              <a:r>
                <a:rPr lang="en-US" sz="32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adweikat12@gmail.com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88901"/>
            <a:ext cx="6137625" cy="1079599"/>
            <a:chOff x="0" y="0"/>
            <a:chExt cx="8183500" cy="1439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3500" cy="1439465"/>
            </a:xfrm>
            <a:custGeom>
              <a:avLst/>
              <a:gdLst/>
              <a:ahLst/>
              <a:cxnLst/>
              <a:rect r="r" b="b" t="t" l="l"/>
              <a:pathLst>
                <a:path h="1439465" w="8183500">
                  <a:moveTo>
                    <a:pt x="0" y="0"/>
                  </a:moveTo>
                  <a:lnTo>
                    <a:pt x="8183500" y="0"/>
                  </a:lnTo>
                  <a:lnTo>
                    <a:pt x="8183500" y="1439465"/>
                  </a:lnTo>
                  <a:lnTo>
                    <a:pt x="0" y="14394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183500" cy="14870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472960"/>
            <a:ext cx="17222115" cy="7341081"/>
            <a:chOff x="0" y="0"/>
            <a:chExt cx="22962820" cy="97881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62820" cy="9788108"/>
            </a:xfrm>
            <a:custGeom>
              <a:avLst/>
              <a:gdLst/>
              <a:ahLst/>
              <a:cxnLst/>
              <a:rect r="r" b="b" t="t" l="l"/>
              <a:pathLst>
                <a:path h="9788108" w="22962820">
                  <a:moveTo>
                    <a:pt x="0" y="0"/>
                  </a:moveTo>
                  <a:lnTo>
                    <a:pt x="22962820" y="0"/>
                  </a:lnTo>
                  <a:lnTo>
                    <a:pt x="22962820" y="9788108"/>
                  </a:lnTo>
                  <a:lnTo>
                    <a:pt x="0" y="97881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962820" cy="98166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Almalki et al. (2022). Dental Disease Classification Using OPG X-rays. Sensors, 22(19). </a:t>
              </a:r>
              <a:r>
                <a:rPr lang="en-US" sz="2912" u="sng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  <a:hlinkClick r:id="rId2" tooltip="https://doi.org/10.3390/s22197370"/>
                </a:rPr>
                <a:t>Link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Joudet, C. (2018). Deep Learning on Dental X-rays. Medium. </a:t>
              </a:r>
              <a:r>
                <a:rPr lang="en-US" sz="2912" u="sng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  <a:hlinkClick r:id="rId3" tooltip="https://medium.com/@clemkoa/deep-learning-on-dental-x-rays-part-2-fbee8382ffc3"/>
                </a:rPr>
                <a:t>Link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Pereira, L. (2020). CNNs for 3D Medical Images. Master’s Thesis, IST Lisbon. PDF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Rosten &amp; Drummond (2006). Fast Cor</a:t>
              </a: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ner Detection. ECCV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Sohan et al. (2024). Review of YOLOv8. ML Conference. </a:t>
              </a:r>
              <a:r>
                <a:rPr lang="en-US" sz="2912" u="sng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  <a:hlinkClick r:id="rId4" tooltip="https://doi.org/10.1007/978-981-99-7962-2_39"/>
                </a:rPr>
                <a:t>Link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Redmon et al. (2016). YOLO: Real-time Detection. CVPR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Jocher et al. (2023). YOLOv8 by Ultralytics. </a:t>
              </a:r>
              <a:r>
                <a:rPr lang="en-US" sz="2912" u="sng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  <a:hlinkClick r:id="rId5" tooltip="https://github.com/ultralytics/ultralytics"/>
                </a:rPr>
                <a:t>GitHub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Paszke et al. (2019). PyTorch Library. NeurIPS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Bradski, G. (2000). OpenCV Library. Dr. Dobb’s Journal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Zuidhof, G. (2019). Deep Learning for Medical Imaging. arXiv:1908.06301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Lee et al. (2018). Caries Detection via CNN. Journal of Dentistry, 77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Schwendicke et al. (2019). CNNs in Dental Diagnostics. Journal of Dentistry, 91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Hung et al. (2020). AI in Dental Radiology. Dentomaxillofacial Radiology, 49(1)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Litjens et al. (2017). Survey on Deep Learning in Medical Imaging. Medical Image Analysis, 42</a:t>
              </a:r>
            </a:p>
            <a:p>
              <a:pPr algn="l" marL="628824" indent="-314412" lvl="1">
                <a:lnSpc>
                  <a:spcPts val="3664"/>
                </a:lnSpc>
                <a:buFont typeface="Arial"/>
                <a:buChar char="•"/>
              </a:pPr>
              <a:r>
                <a:rPr lang="en-US" sz="2912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</a:rPr>
                <a:t>Esteva et al. (2017). Skin Cancer Detection via DNNs. Nature, 542(7639)</a:t>
              </a:r>
            </a:p>
            <a:p>
              <a:pPr algn="l">
                <a:lnSpc>
                  <a:spcPts val="366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5371" y="8615054"/>
            <a:ext cx="16691381" cy="1286492"/>
            <a:chOff x="0" y="0"/>
            <a:chExt cx="22255175" cy="1715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55175" cy="1715322"/>
            </a:xfrm>
            <a:custGeom>
              <a:avLst/>
              <a:gdLst/>
              <a:ahLst/>
              <a:cxnLst/>
              <a:rect r="r" b="b" t="t" l="l"/>
              <a:pathLst>
                <a:path h="1715322" w="22255175">
                  <a:moveTo>
                    <a:pt x="0" y="0"/>
                  </a:moveTo>
                  <a:lnTo>
                    <a:pt x="22255175" y="0"/>
                  </a:lnTo>
                  <a:lnTo>
                    <a:pt x="22255175" y="1715322"/>
                  </a:lnTo>
                  <a:lnTo>
                    <a:pt x="0" y="1715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255175" cy="17534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79951" indent="-389975" lvl="1">
                <a:lnSpc>
                  <a:spcPts val="4544"/>
                </a:lnSpc>
                <a:buFont typeface="Arial"/>
                <a:buChar char="•"/>
              </a:pPr>
              <a:r>
                <a:rPr lang="en-US" sz="3612">
                  <a:solidFill>
                    <a:srgbClr val="FF3131"/>
                  </a:solidFill>
                  <a:latin typeface="Petrona"/>
                  <a:ea typeface="Petrona"/>
                  <a:cs typeface="Petrona"/>
                  <a:sym typeface="Petrona"/>
                </a:rPr>
                <a:t>GitHub Repository: </a:t>
              </a:r>
              <a:r>
                <a:rPr lang="en-US" sz="3612" u="sng">
                  <a:solidFill>
                    <a:srgbClr val="000000"/>
                  </a:solidFill>
                  <a:latin typeface="Petrona"/>
                  <a:ea typeface="Petrona"/>
                  <a:cs typeface="Petrona"/>
                  <a:sym typeface="Petrona"/>
                  <a:hlinkClick r:id="rId6" tooltip="https://github.com/apodwikat/Dental_Anomaly_Detection_GraduationProject"/>
                </a:rPr>
                <a:t>https://github.com/apodwikat/Dental_Anomaly_Detection_GraduationProject</a:t>
              </a:r>
            </a:p>
            <a:p>
              <a:pPr algn="l">
                <a:lnSpc>
                  <a:spcPts val="1022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42688" y="24623"/>
            <a:ext cx="1308126" cy="1286263"/>
          </a:xfrm>
          <a:custGeom>
            <a:avLst/>
            <a:gdLst/>
            <a:ahLst/>
            <a:cxnLst/>
            <a:rect r="r" b="b" t="t" l="l"/>
            <a:pathLst>
              <a:path h="1286263" w="1308126">
                <a:moveTo>
                  <a:pt x="0" y="0"/>
                </a:moveTo>
                <a:lnTo>
                  <a:pt x="1308127" y="0"/>
                </a:lnTo>
                <a:lnTo>
                  <a:pt x="1308127" y="1286264"/>
                </a:lnTo>
                <a:lnTo>
                  <a:pt x="0" y="12862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09058" y="9655841"/>
            <a:ext cx="541757" cy="5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774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DAGjVZyGin8</dc:identifier>
  <dcterms:modified xsi:type="dcterms:W3CDTF">2011-08-01T06:04:30Z</dcterms:modified>
  <cp:revision>1</cp:revision>
  <dc:title>AbdallahDwikat_GraduationProjectPresentation.pptx</dc:title>
</cp:coreProperties>
</file>